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5" r:id="rId12"/>
    <p:sldId id="263" r:id="rId13"/>
    <p:sldId id="264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46.xml"/><Relationship Id="rId24" Type="http://schemas.openxmlformats.org/officeDocument/2006/relationships/tags" Target="../tags/tag45.xml"/><Relationship Id="rId23" Type="http://schemas.openxmlformats.org/officeDocument/2006/relationships/tags" Target="../tags/tag44.xml"/><Relationship Id="rId22" Type="http://schemas.openxmlformats.org/officeDocument/2006/relationships/tags" Target="../tags/tag43.xml"/><Relationship Id="rId21" Type="http://schemas.openxmlformats.org/officeDocument/2006/relationships/tags" Target="../tags/tag42.xml"/><Relationship Id="rId20" Type="http://schemas.openxmlformats.org/officeDocument/2006/relationships/tags" Target="../tags/tag41.xml"/><Relationship Id="rId2" Type="http://schemas.openxmlformats.org/officeDocument/2006/relationships/tags" Target="../tags/tag23.xml"/><Relationship Id="rId19" Type="http://schemas.openxmlformats.org/officeDocument/2006/relationships/tags" Target="../tags/tag40.xml"/><Relationship Id="rId18" Type="http://schemas.openxmlformats.org/officeDocument/2006/relationships/tags" Target="../tags/tag39.xml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66.xml"/><Relationship Id="rId2" Type="http://schemas.openxmlformats.org/officeDocument/2006/relationships/tags" Target="../tags/tag48.xml"/><Relationship Id="rId19" Type="http://schemas.openxmlformats.org/officeDocument/2006/relationships/tags" Target="../tags/tag65.xml"/><Relationship Id="rId18" Type="http://schemas.openxmlformats.org/officeDocument/2006/relationships/tags" Target="../tags/tag64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3208" y="987552"/>
            <a:ext cx="2011680" cy="2011680"/>
          </a:xfrm>
          <a:prstGeom prst="ellipse">
            <a:avLst/>
          </a:prstGeom>
          <a:solidFill>
            <a:srgbClr val="0C7C0F"/>
          </a:solidFill>
          <a:ln w="19050">
            <a:solidFill>
              <a:srgbClr val="10AF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3768" y="1658112"/>
            <a:ext cx="670560" cy="67056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4" name="Text 2"/>
          <p:cNvSpPr/>
          <p:nvPr/>
        </p:nvSpPr>
        <p:spPr>
          <a:xfrm>
            <a:off x="0" y="3246120"/>
            <a:ext cx="12191695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4800600" y="4224528"/>
            <a:ext cx="2606040" cy="0"/>
          </a:xfrm>
          <a:prstGeom prst="line">
            <a:avLst/>
          </a:prstGeom>
          <a:noFill/>
          <a:ln w="25400">
            <a:solidFill>
              <a:srgbClr val="10AF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480560"/>
            <a:ext cx="1219169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Decision Support untuk Customer Support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74920"/>
            <a:ext cx="1219169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Kickoff · Internal Business Improvement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is everywhere. Tapi susah dicari.</a:t>
            </a:r>
            <a:endParaRPr lang="en-US" sz="3600" dirty="0"/>
          </a:p>
        </p:txBody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640080" y="1757680"/>
            <a:ext cx="2108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tersebar</a:t>
            </a:r>
            <a:endParaRPr lang="en-US" sz="1800" dirty="0"/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2771140" y="1700530"/>
            <a:ext cx="39497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Answers live across docs, chats, dan pengalaman orang-orang.</a:t>
            </a:r>
            <a:endParaRPr lang="en-US" sz="15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640080" y="2607310"/>
            <a:ext cx="2108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Onboarding lambat</a:t>
            </a:r>
            <a:endParaRPr lang="en-US" sz="18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2771140" y="2541905"/>
            <a:ext cx="39497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agents masih bergantung pada pengalaman individual.</a:t>
            </a: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640080" y="3440430"/>
            <a:ext cx="2108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Jawaban tidak konsisten</a:t>
            </a:r>
            <a:endParaRPr lang="en-US" sz="18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2771140" y="3383280"/>
            <a:ext cx="39497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 cases harus diinvestigate ulang setiap kali.</a:t>
            </a:r>
            <a:endParaRPr lang="en-US" sz="1500" dirty="0"/>
          </a:p>
        </p:txBody>
      </p:sp>
      <p:grpSp>
        <p:nvGrpSpPr>
          <p:cNvPr id="33" name="Group 32"/>
          <p:cNvGrpSpPr/>
          <p:nvPr/>
        </p:nvGrpSpPr>
        <p:grpSpPr>
          <a:xfrm>
            <a:off x="7836535" y="1263650"/>
            <a:ext cx="4187825" cy="5056505"/>
            <a:chOff x="12341" y="1613"/>
            <a:chExt cx="6595" cy="7963"/>
          </a:xfrm>
        </p:grpSpPr>
        <p:sp>
          <p:nvSpPr>
            <p:cNvPr id="10" name="Shape 8"/>
            <p:cNvSpPr/>
            <p:nvPr/>
          </p:nvSpPr>
          <p:spPr>
            <a:xfrm>
              <a:off x="12413" y="2405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1" name="Shape 9"/>
            <p:cNvSpPr/>
            <p:nvPr/>
          </p:nvSpPr>
          <p:spPr>
            <a:xfrm>
              <a:off x="12528" y="2520"/>
              <a:ext cx="3168" cy="2736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12" name="Shape 10"/>
            <p:cNvSpPr/>
            <p:nvPr/>
          </p:nvSpPr>
          <p:spPr>
            <a:xfrm>
              <a:off x="13565" y="3629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3" name="Shape 11"/>
            <p:cNvSpPr/>
            <p:nvPr/>
          </p:nvSpPr>
          <p:spPr>
            <a:xfrm>
              <a:off x="13680" y="3744"/>
              <a:ext cx="2016" cy="1512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14" name="Shape 12"/>
            <p:cNvSpPr/>
            <p:nvPr/>
          </p:nvSpPr>
          <p:spPr>
            <a:xfrm>
              <a:off x="12341" y="6797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5" name="Shape 13"/>
            <p:cNvSpPr/>
            <p:nvPr/>
          </p:nvSpPr>
          <p:spPr>
            <a:xfrm>
              <a:off x="12456" y="5256"/>
              <a:ext cx="3240" cy="1656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16" name="Shape 14"/>
            <p:cNvSpPr/>
            <p:nvPr/>
          </p:nvSpPr>
          <p:spPr>
            <a:xfrm>
              <a:off x="13853" y="8309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7" name="Shape 15"/>
            <p:cNvSpPr/>
            <p:nvPr/>
          </p:nvSpPr>
          <p:spPr>
            <a:xfrm>
              <a:off x="13968" y="5256"/>
              <a:ext cx="1728" cy="3168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18" name="Shape 16"/>
            <p:cNvSpPr/>
            <p:nvPr/>
          </p:nvSpPr>
          <p:spPr>
            <a:xfrm>
              <a:off x="17813" y="2405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9" name="Shape 17"/>
            <p:cNvSpPr/>
            <p:nvPr/>
          </p:nvSpPr>
          <p:spPr>
            <a:xfrm>
              <a:off x="15696" y="2520"/>
              <a:ext cx="2232" cy="2736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0" name="Shape 18"/>
            <p:cNvSpPr/>
            <p:nvPr/>
          </p:nvSpPr>
          <p:spPr>
            <a:xfrm>
              <a:off x="18173" y="4205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21" name="Shape 19"/>
            <p:cNvSpPr/>
            <p:nvPr/>
          </p:nvSpPr>
          <p:spPr>
            <a:xfrm>
              <a:off x="15696" y="4320"/>
              <a:ext cx="2592" cy="936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2" name="Shape 20"/>
            <p:cNvSpPr/>
            <p:nvPr/>
          </p:nvSpPr>
          <p:spPr>
            <a:xfrm>
              <a:off x="17525" y="7373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23" name="Shape 21"/>
            <p:cNvSpPr/>
            <p:nvPr/>
          </p:nvSpPr>
          <p:spPr>
            <a:xfrm>
              <a:off x="15696" y="5256"/>
              <a:ext cx="1944" cy="2232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4" name="Shape 22"/>
            <p:cNvSpPr/>
            <p:nvPr/>
          </p:nvSpPr>
          <p:spPr>
            <a:xfrm>
              <a:off x="17021" y="8741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25" name="Shape 23"/>
            <p:cNvSpPr/>
            <p:nvPr/>
          </p:nvSpPr>
          <p:spPr>
            <a:xfrm>
              <a:off x="15696" y="5256"/>
              <a:ext cx="1440" cy="3600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6" name="Shape 24"/>
            <p:cNvSpPr/>
            <p:nvPr/>
          </p:nvSpPr>
          <p:spPr>
            <a:xfrm>
              <a:off x="14429" y="1613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27" name="Shape 25"/>
            <p:cNvSpPr/>
            <p:nvPr/>
          </p:nvSpPr>
          <p:spPr>
            <a:xfrm>
              <a:off x="14544" y="1728"/>
              <a:ext cx="1152" cy="3528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8" name="Shape 26"/>
            <p:cNvSpPr/>
            <p:nvPr/>
          </p:nvSpPr>
          <p:spPr>
            <a:xfrm>
              <a:off x="14184" y="3744"/>
              <a:ext cx="3024" cy="3024"/>
            </a:xfrm>
            <a:prstGeom prst="ellipse">
              <a:avLst/>
            </a:prstGeom>
            <a:solidFill>
              <a:srgbClr val="10AF13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9" name="Text 27"/>
            <p:cNvSpPr/>
            <p:nvPr/>
          </p:nvSpPr>
          <p:spPr>
            <a:xfrm>
              <a:off x="14256" y="4939"/>
              <a:ext cx="2880" cy="50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CSCoPilot</a:t>
              </a:r>
              <a:endParaRPr lang="en-US" sz="17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12600" y="9144"/>
              <a:ext cx="6336" cy="4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C7C0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chaos → order</a:t>
              </a:r>
              <a:endParaRPr lang="en-US" sz="1200" dirty="0"/>
            </a:p>
          </p:txBody>
        </p:sp>
      </p:grpSp>
      <p:sp>
        <p:nvSpPr>
          <p:cNvPr id="31" name="Shape 29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PROMISE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Faster. Consistent. Human-approved.</a:t>
            </a:r>
            <a:endParaRPr lang="en-US" sz="36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737360"/>
            <a:ext cx="3456432" cy="352044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1290320000" dist="483870000" dir="-1" algn="bl" rotWithShape="0">
              <a:srgbClr val="000000">
                <a:alpha val="1800000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77724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7724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777240" y="2697480"/>
            <a:ext cx="2971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answers</a:t>
            </a:r>
            <a:endParaRPr lang="en-US" sz="18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777240" y="3246120"/>
            <a:ext cx="2971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Pencarian SOP, FAQ, Guide, atau template dalam 3 menit.</a:t>
            </a:r>
            <a:endParaRPr lang="en-US" sz="13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279392" y="1737360"/>
            <a:ext cx="3456432" cy="3520440"/>
          </a:xfrm>
          <a:prstGeom prst="roundRect">
            <a:avLst>
              <a:gd name="adj" fmla="val 3175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-1" algn="bl" rotWithShape="0">
              <a:srgbClr val="000000">
                <a:alpha val="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4507992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507992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4507992" y="2697480"/>
            <a:ext cx="2971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replies</a:t>
            </a:r>
            <a:endParaRPr lang="en-US" sz="18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4507992" y="3246120"/>
            <a:ext cx="2971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 dari company knowledge dan communication standard.</a:t>
            </a:r>
            <a:endParaRPr lang="en-US" sz="130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8010144" y="1737360"/>
            <a:ext cx="3456432" cy="352044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1"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8238744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8238744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8238744" y="2697480"/>
            <a:ext cx="2971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in control</a:t>
            </a:r>
            <a:endParaRPr lang="en-US" sz="18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8238744" y="3246120"/>
            <a:ext cx="2971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dan approve setiap draft sebelum disampaikan ke client.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Notion to human-approved reply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2940" y="2446020"/>
            <a:ext cx="960120" cy="960120"/>
          </a:xfrm>
          <a:prstGeom prst="ellipse">
            <a:avLst/>
          </a:prstGeom>
          <a:solidFill>
            <a:srgbClr val="0C7C0F"/>
          </a:solidFill>
          <a:ln w="19050">
            <a:solidFill>
              <a:srgbClr val="10AF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" y="2766060"/>
            <a:ext cx="320040" cy="32004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6" name="Text 4"/>
          <p:cNvSpPr/>
          <p:nvPr/>
        </p:nvSpPr>
        <p:spPr>
          <a:xfrm>
            <a:off x="182880" y="36576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404164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of truth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73352" y="2926080"/>
            <a:ext cx="1728216" cy="0"/>
          </a:xfrm>
          <a:prstGeom prst="line">
            <a:avLst/>
          </a:prstGeom>
          <a:noFill/>
          <a:ln w="25400">
            <a:solidFill>
              <a:srgbClr val="10AF1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51860" y="2446020"/>
            <a:ext cx="960120" cy="960120"/>
          </a:xfrm>
          <a:prstGeom prst="ellipse">
            <a:avLst/>
          </a:prstGeom>
          <a:solidFill>
            <a:srgbClr val="0C7C0F"/>
          </a:solidFill>
          <a:ln w="19050">
            <a:solidFill>
              <a:srgbClr val="10AF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71900" y="2766060"/>
            <a:ext cx="320040" cy="32004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1" name="Text 9"/>
          <p:cNvSpPr/>
          <p:nvPr/>
        </p:nvSpPr>
        <p:spPr>
          <a:xfrm>
            <a:off x="2971800" y="36576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Hub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71800" y="404164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Synced + searchable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62272" y="2926080"/>
            <a:ext cx="1728216" cy="0"/>
          </a:xfrm>
          <a:prstGeom prst="line">
            <a:avLst/>
          </a:prstGeom>
          <a:noFill/>
          <a:ln w="25400">
            <a:solidFill>
              <a:srgbClr val="10AF1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40780" y="2446020"/>
            <a:ext cx="960120" cy="960120"/>
          </a:xfrm>
          <a:prstGeom prst="ellipse">
            <a:avLst/>
          </a:prstGeom>
          <a:solidFill>
            <a:srgbClr val="0C7C0F"/>
          </a:solidFill>
          <a:ln w="19050">
            <a:solidFill>
              <a:srgbClr val="10AF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60820" y="2766060"/>
            <a:ext cx="320040" cy="32004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/>
        </p:nvSpPr>
        <p:spPr>
          <a:xfrm>
            <a:off x="5760720" y="36576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Assistant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760720" y="404164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Context-aware draft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51192" y="2926080"/>
            <a:ext cx="1728216" cy="0"/>
          </a:xfrm>
          <a:prstGeom prst="line">
            <a:avLst/>
          </a:prstGeom>
          <a:noFill/>
          <a:ln w="25400">
            <a:solidFill>
              <a:srgbClr val="10AF1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29700" y="2446020"/>
            <a:ext cx="960120" cy="960120"/>
          </a:xfrm>
          <a:prstGeom prst="ellipse">
            <a:avLst/>
          </a:prstGeom>
          <a:solidFill>
            <a:srgbClr val="0C7C0F"/>
          </a:solidFill>
          <a:ln w="19050">
            <a:solidFill>
              <a:srgbClr val="10AF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49740" y="2766060"/>
            <a:ext cx="320040" cy="32004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1" name="Text 19"/>
          <p:cNvSpPr/>
          <p:nvPr/>
        </p:nvSpPr>
        <p:spPr>
          <a:xfrm>
            <a:off x="8549640" y="36576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validation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49640" y="404164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· edit · kirim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4937760"/>
            <a:ext cx="1219169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Tidak auto-send.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MVP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in the box.</a:t>
            </a:r>
            <a:endParaRPr lang="en-US" sz="36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7373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6" algn="bl" rotWithShape="0">
              <a:srgbClr val="000000">
                <a:alpha val="1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749808" y="193852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49808" y="195681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417320" y="196596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777240" y="256032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login + protected routes.</a:t>
            </a:r>
            <a:endParaRPr lang="en-US" sz="12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279392" y="17373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4" algn="bl" rotWithShape="0">
              <a:srgbClr val="000000">
                <a:alpha val="1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4480560" y="193852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480560" y="195681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5148072" y="196596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4507992" y="256032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yang jelas ke core features.</a:t>
            </a:r>
            <a:endParaRPr lang="en-US" sz="120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8010144" y="17373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2" algn="bl" rotWithShape="0">
              <a:srgbClr val="000000">
                <a:alpha val="1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8211312" y="193852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8211312" y="195681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8878824" y="196596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Hub</a:t>
            </a:r>
            <a:endParaRPr lang="en-US" sz="15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8238744" y="256032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Search, categories, dan detail.</a:t>
            </a:r>
            <a:endParaRPr lang="en-US" sz="1200" dirty="0"/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2423160" y="406908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1" algn="bl" rotWithShape="0">
              <a:srgbClr val="000000">
                <a:alpha val="1"/>
              </a:srgbClr>
            </a:outerShdw>
          </a:effectLst>
        </p:spPr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2624328" y="427024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2624328" y="428853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3291840" y="429768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Response Assistant</a:t>
            </a:r>
            <a:endParaRPr lang="en-US" sz="15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2651760" y="489204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Draft, edit, dan copy grounded replies.</a:t>
            </a:r>
            <a:endParaRPr lang="en-US" sz="1200" dirty="0"/>
          </a:p>
        </p:txBody>
      </p:sp>
      <p:sp>
        <p:nvSpPr>
          <p:cNvPr id="24" name="Shape 22"/>
          <p:cNvSpPr/>
          <p:nvPr>
            <p:custDataLst>
              <p:tags r:id="rId21"/>
            </p:custDataLst>
          </p:nvPr>
        </p:nvSpPr>
        <p:spPr>
          <a:xfrm>
            <a:off x="6153912" y="406908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9" algn="bl" rotWithShape="0">
              <a:srgbClr val="000000">
                <a:alpha val="1"/>
              </a:srgbClr>
            </a:outerShdw>
          </a:effectLst>
        </p:spPr>
      </p:sp>
      <p:sp>
        <p:nvSpPr>
          <p:cNvPr id="25" name="Shape 23"/>
          <p:cNvSpPr/>
          <p:nvPr>
            <p:custDataLst>
              <p:tags r:id="rId22"/>
            </p:custDataLst>
          </p:nvPr>
        </p:nvSpPr>
        <p:spPr>
          <a:xfrm>
            <a:off x="6355080" y="427024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6" name="Text 24"/>
          <p:cNvSpPr/>
          <p:nvPr>
            <p:custDataLst>
              <p:tags r:id="rId23"/>
            </p:custDataLst>
          </p:nvPr>
        </p:nvSpPr>
        <p:spPr>
          <a:xfrm>
            <a:off x="6355080" y="428853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>
            <p:custDataLst>
              <p:tags r:id="rId24"/>
            </p:custDataLst>
          </p:nvPr>
        </p:nvSpPr>
        <p:spPr>
          <a:xfrm>
            <a:off x="7022592" y="429768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&amp; Sync</a:t>
            </a:r>
            <a:endParaRPr lang="en-US" sz="1500" dirty="0"/>
          </a:p>
        </p:txBody>
      </p:sp>
      <p:sp>
        <p:nvSpPr>
          <p:cNvPr id="28" name="Text 26"/>
          <p:cNvSpPr/>
          <p:nvPr>
            <p:custDataLst>
              <p:tags r:id="rId25"/>
            </p:custDataLst>
          </p:nvPr>
        </p:nvSpPr>
        <p:spPr>
          <a:xfrm>
            <a:off x="6382512" y="489204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Supabase/PostgreSQL + Notion sync.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Notion remains the single source of truth.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EXPERIENCE PREVIEW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 it in action.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321808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5" algn="bl" rotWithShape="0">
              <a:srgbClr val="000000">
                <a:alpha val="1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4864608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28800"/>
            <a:ext cx="82296" cy="82296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7" name="Shape 5"/>
          <p:cNvSpPr/>
          <p:nvPr/>
        </p:nvSpPr>
        <p:spPr>
          <a:xfrm>
            <a:off x="914400" y="1828800"/>
            <a:ext cx="82296" cy="82296"/>
          </a:xfrm>
          <a:prstGeom prst="ellipse">
            <a:avLst/>
          </a:prstGeom>
          <a:solidFill>
            <a:srgbClr val="F1C40F"/>
          </a:solidFill>
        </p:spPr>
      </p:sp>
      <p:sp>
        <p:nvSpPr>
          <p:cNvPr id="8" name="Shape 6"/>
          <p:cNvSpPr/>
          <p:nvPr/>
        </p:nvSpPr>
        <p:spPr>
          <a:xfrm>
            <a:off x="1078992" y="1828800"/>
            <a:ext cx="82296" cy="82296"/>
          </a:xfrm>
          <a:prstGeom prst="ellipse">
            <a:avLst/>
          </a:prstGeom>
          <a:solidFill>
            <a:srgbClr val="E85D75"/>
          </a:solidFill>
        </p:spPr>
      </p:sp>
      <p:sp>
        <p:nvSpPr>
          <p:cNvPr id="9" name="Text 7"/>
          <p:cNvSpPr/>
          <p:nvPr/>
        </p:nvSpPr>
        <p:spPr>
          <a:xfrm>
            <a:off x="822960" y="2231136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Hub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624328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E7F8E8"/>
          </a:solidFill>
          <a:ln w="12700">
            <a:solidFill>
              <a:srgbClr val="10AF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624328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Cari keyword atau category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172968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172968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SOP Refund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3172968"/>
            <a:ext cx="1005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Operasional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3785616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85616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FAQ Reset Password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3785616"/>
            <a:ext cx="1005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Akun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" y="4398264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398264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Template Keterlambatan Pengiriman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4398264"/>
            <a:ext cx="1005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Template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18504" y="1664208"/>
            <a:ext cx="5321808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3" algn="bl" rotWithShape="0">
              <a:srgbClr val="000000">
                <a:alpha val="1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47104" y="2011680"/>
            <a:ext cx="4864608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9672" y="1828800"/>
            <a:ext cx="82296" cy="82296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4" name="Shape 22"/>
          <p:cNvSpPr/>
          <p:nvPr/>
        </p:nvSpPr>
        <p:spPr>
          <a:xfrm>
            <a:off x="6684264" y="1828800"/>
            <a:ext cx="82296" cy="82296"/>
          </a:xfrm>
          <a:prstGeom prst="ellipse">
            <a:avLst/>
          </a:prstGeom>
          <a:solidFill>
            <a:srgbClr val="F1C40F"/>
          </a:solidFill>
        </p:spPr>
      </p:sp>
      <p:sp>
        <p:nvSpPr>
          <p:cNvPr id="25" name="Shape 23"/>
          <p:cNvSpPr/>
          <p:nvPr/>
        </p:nvSpPr>
        <p:spPr>
          <a:xfrm>
            <a:off x="6848856" y="1828800"/>
            <a:ext cx="82296" cy="82296"/>
          </a:xfrm>
          <a:prstGeom prst="ellipse">
            <a:avLst/>
          </a:prstGeom>
          <a:solidFill>
            <a:srgbClr val="E85D75"/>
          </a:solidFill>
        </p:spPr>
      </p:sp>
      <p:sp>
        <p:nvSpPr>
          <p:cNvPr id="26" name="Text 24"/>
          <p:cNvSpPr/>
          <p:nvPr/>
        </p:nvSpPr>
        <p:spPr>
          <a:xfrm>
            <a:off x="6592824" y="2231136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Response Assistant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92824" y="2651760"/>
            <a:ext cx="4754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context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92824" y="2944368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E7F8E8"/>
          </a:solidFill>
          <a:ln w="9525">
            <a:solidFill>
              <a:srgbClr val="10AF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2824" y="3675888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10AF1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draft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92824" y="4270248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75704" y="4389120"/>
            <a:ext cx="4389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 reply grounded in knowledge kamu…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92824" y="5065776"/>
            <a:ext cx="4754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Wajib di-review sebelum dipakai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Next.js · TypeScript · shadcn/ui · Tailwind CSS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 by design</a:t>
            </a:r>
            <a:endParaRPr lang="en-US" sz="36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77724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7724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463040" y="2108962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Notion tetap jadi source of truth</a:t>
            </a: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1463040" y="2514600"/>
            <a:ext cx="4160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second database, semua edit tetap di Notion.</a:t>
            </a:r>
            <a:endParaRPr lang="en-US" sz="11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612648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635508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635508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7040880" y="2108962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auto-reply, ever</a:t>
            </a:r>
            <a:endParaRPr lang="en-US" sz="15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7040880" y="2514600"/>
            <a:ext cx="4160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tidak langsung send ke client atau ambil final decision.</a:t>
            </a:r>
            <a:endParaRPr lang="en-US" sz="110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54864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777240" y="4096512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777240" y="4114800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1463040" y="4193794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Secrets tetap server-side</a:t>
            </a:r>
            <a:endParaRPr lang="en-US" sz="15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1463040" y="4599432"/>
            <a:ext cx="4160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keys dan credentials tidak masuk browser.</a:t>
            </a:r>
            <a:endParaRPr lang="en-US" sz="1100" dirty="0"/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612648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6355080" y="4096512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6355080" y="4114800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7040880" y="4193794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state coverage</a:t>
            </a:r>
            <a:endParaRPr lang="en-US" sz="15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7040880" y="4599432"/>
            <a:ext cx="4160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Loading, empty, error, unauthorized, dan session expired.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264140" y="5189220"/>
            <a:ext cx="1051560" cy="1051560"/>
          </a:xfrm>
          <a:prstGeom prst="ellipse">
            <a:avLst/>
          </a:prstGeom>
          <a:solidFill>
            <a:srgbClr val="0C7C0F"/>
          </a:solidFill>
          <a:ln w="19050">
            <a:solidFill>
              <a:srgbClr val="10AF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14660" y="5539740"/>
            <a:ext cx="350520" cy="35052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6" name="Shape 24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088130" y="4876165"/>
            <a:ext cx="3892550" cy="6489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WIREFRAME</a:t>
            </a:r>
            <a:endParaRPr lang="en-US" sz="4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6185" y="1153160"/>
            <a:ext cx="4779010" cy="3521710"/>
          </a:xfrm>
          <a:prstGeom prst="rect">
            <a:avLst/>
          </a:prstGeom>
          <a:ln w="28575" cmpd="sng">
            <a:solidFill>
              <a:schemeClr val="accent6"/>
            </a:solidFill>
            <a:prstDash val="solid"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DELIVERY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15184" cy="1481328"/>
          </a:xfrm>
          <a:prstGeom prst="roundRect">
            <a:avLst>
              <a:gd name="adj" fmla="val 740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1" algn="bl" rotWithShape="0">
              <a:srgbClr val="000000">
                <a:alpha val="1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240280" cy="27432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+ setup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64992" y="1600200"/>
            <a:ext cx="26151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1" algn="bl" rotWithShape="0">
              <a:srgbClr val="000000">
                <a:alpha val="1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7872" y="1783080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47872" y="2148840"/>
            <a:ext cx="2240280" cy="27432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build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47872" y="254203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+ Hub + sync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1344" y="1600200"/>
            <a:ext cx="26151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7" algn="bl" rotWithShape="0">
              <a:srgbClr val="000000">
                <a:alpha val="1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4224" y="1783080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64224" y="2148840"/>
            <a:ext cx="2240280" cy="27432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64224" y="254203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Assistant end-to-end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97696" y="1600200"/>
            <a:ext cx="26151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4" algn="bl" rotWithShape="0">
              <a:srgbClr val="000000">
                <a:alpha val="1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80576" y="1783080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80576" y="2148840"/>
            <a:ext cx="2240280" cy="27432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QA &amp; Release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0576" y="254203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UAT + deployment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" y="4175125"/>
            <a:ext cx="9776460" cy="1061720"/>
          </a:xfrm>
          <a:prstGeom prst="rect">
            <a:avLst/>
          </a:prstGeom>
        </p:spPr>
      </p:pic>
      <p:sp>
        <p:nvSpPr>
          <p:cNvPr id="30" name="Text 1"/>
          <p:cNvSpPr/>
          <p:nvPr/>
        </p:nvSpPr>
        <p:spPr>
          <a:xfrm>
            <a:off x="548640" y="3337433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/>
              <a:t>Plan</a:t>
            </a:r>
            <a:endParaRPr lang="en-US" sz="36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&amp; KICKOFF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Team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280160" cy="1280160"/>
          </a:xfrm>
          <a:prstGeom prst="roundRect">
            <a:avLst>
              <a:gd name="adj" fmla="val 11429"/>
            </a:avLst>
          </a:prstGeom>
          <a:solidFill>
            <a:srgbClr val="10AF13"/>
          </a:solidFill>
          <a:effectLst>
            <a:outerShdw blurRad="-2147483648" dist="-2147483648" dir="2" algn="bl" rotWithShape="0">
              <a:srgbClr val="000000">
                <a:alpha val="1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83080"/>
            <a:ext cx="12801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94560" y="184708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Julia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194560" y="2286000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PM · Design · Frontend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634740"/>
            <a:ext cx="1280160" cy="1280160"/>
          </a:xfrm>
          <a:prstGeom prst="roundRect">
            <a:avLst>
              <a:gd name="adj" fmla="val 11429"/>
            </a:avLst>
          </a:prstGeom>
          <a:solidFill>
            <a:srgbClr val="10AF13"/>
          </a:solidFill>
          <a:effectLst>
            <a:outerShdw blurRad="-2147483648" dist="-2147483648" dir="1" algn="bl" rotWithShape="0">
              <a:srgbClr val="000000">
                <a:alpha val="1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634740"/>
            <a:ext cx="12801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94560" y="369874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Hilmi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194560" y="4137660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· QA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6916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CONFIRM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47002" y="2231390"/>
            <a:ext cx="118872" cy="11887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4" name="Text 12"/>
          <p:cNvSpPr/>
          <p:nvPr/>
        </p:nvSpPr>
        <p:spPr>
          <a:xfrm>
            <a:off x="6858000" y="2029968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Akses Notion + content taxonomy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47002" y="2798318"/>
            <a:ext cx="118872" cy="11887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/>
        </p:nvSpPr>
        <p:spPr>
          <a:xfrm>
            <a:off x="6858000" y="2596896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provider config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47002" y="3365246"/>
            <a:ext cx="118872" cy="11887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8" name="Text 16"/>
          <p:cNvSpPr/>
          <p:nvPr/>
        </p:nvSpPr>
        <p:spPr>
          <a:xfrm>
            <a:off x="6858000" y="3163824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Claude API · Supabase · hosting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47002" y="3932174"/>
            <a:ext cx="118872" cy="11887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0" name="Text 18"/>
          <p:cNvSpPr/>
          <p:nvPr/>
        </p:nvSpPr>
        <p:spPr>
          <a:xfrm>
            <a:off x="6858000" y="3730752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UAT scenarios dari Customer Support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5212080"/>
            <a:ext cx="5212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2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3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4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5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6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7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8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9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0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1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2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3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4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5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6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7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8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9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20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21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22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3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4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5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6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7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8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9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0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1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2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3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4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5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6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7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8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9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0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1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2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3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4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5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6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7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48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49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0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1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2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3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4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5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6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7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8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9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0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1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2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3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4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5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6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2663</Words>
  <Application>WPS Presentation</Application>
  <PresentationFormat>On-screen Show (16:9)</PresentationFormat>
  <Paragraphs>246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CSCoPilot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CSCoPilot — Client Kickoff / Kickoff Klien</dc:title>
  <dc:creator>CSCoPilot</dc:creator>
  <dc:subject>PptxGenJS Presentation</dc:subject>
  <cp:lastModifiedBy>TDI021</cp:lastModifiedBy>
  <cp:revision>2</cp:revision>
  <dcterms:created xsi:type="dcterms:W3CDTF">2026-08-12T08:27:00Z</dcterms:created>
  <dcterms:modified xsi:type="dcterms:W3CDTF">2026-08-12T08:51:48Z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6067D4BEC8674FF696EE334E90859D4E_12</vt:lpwstr>
  </property>
  <property fmtid="{D5CDD505-2E9C-101B-9397-08002B2CF9AE}" pid="3" name="KSOProductBuildVer">
    <vt:lpwstr>2057-12.2.0.23206</vt:lpwstr>
  </property>
</Properties>
</file>