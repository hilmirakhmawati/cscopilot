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301" r:id="rId14"/>
    <p:sldId id="302" r:id="rId15"/>
    <p:sldId id="26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1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2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tags" Target="../tags/tag3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66.xml"/><Relationship Id="rId2" Type="http://schemas.openxmlformats.org/officeDocument/2006/relationships/tags" Target="../tags/tag48.xml"/><Relationship Id="rId19" Type="http://schemas.openxmlformats.org/officeDocument/2006/relationships/tags" Target="../tags/tag65.xml"/><Relationship Id="rId18" Type="http://schemas.openxmlformats.org/officeDocument/2006/relationships/tags" Target="../tags/tag64.xml"/><Relationship Id="rId17" Type="http://schemas.openxmlformats.org/officeDocument/2006/relationships/tags" Target="../tags/tag63.xml"/><Relationship Id="rId16" Type="http://schemas.openxmlformats.org/officeDocument/2006/relationships/tags" Target="../tags/tag62.xml"/><Relationship Id="rId15" Type="http://schemas.openxmlformats.org/officeDocument/2006/relationships/tags" Target="../tags/tag61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9" Type="http://schemas.openxmlformats.org/officeDocument/2006/relationships/notesSlide" Target="../notesSlides/notesSlide9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2.png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93208" y="987552"/>
            <a:ext cx="2011680" cy="201168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3768" y="1658112"/>
            <a:ext cx="670560" cy="67056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4" name="Text 2"/>
          <p:cNvSpPr/>
          <p:nvPr/>
        </p:nvSpPr>
        <p:spPr>
          <a:xfrm>
            <a:off x="0" y="3246120"/>
            <a:ext cx="12191695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4800600" y="4224528"/>
            <a:ext cx="2606040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4805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Decision Support untuk Customer Support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Kickoff · Internal Business Improvement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is everywhere. Tapi susah dicari.</a:t>
            </a:r>
            <a:endParaRPr lang="en-US" sz="3600" dirty="0"/>
          </a:p>
        </p:txBody>
      </p:sp>
      <p:sp>
        <p:nvSpPr>
          <p:cNvPr id="4" name="Text 2"/>
          <p:cNvSpPr/>
          <p:nvPr>
            <p:custDataLst>
              <p:tags r:id="rId1"/>
            </p:custDataLst>
          </p:nvPr>
        </p:nvSpPr>
        <p:spPr>
          <a:xfrm>
            <a:off x="640080" y="175768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tersebar</a:t>
            </a:r>
            <a:endParaRPr lang="en-US" sz="1800" dirty="0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2771140" y="170053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live across docs, chats, dan pengalaman orang-orang.</a:t>
            </a:r>
            <a:endParaRPr lang="en-US" sz="15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40080" y="260731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lambat</a:t>
            </a:r>
            <a:endParaRPr lang="en-US" sz="18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2771140" y="2541905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agents masih bergantung pada pengalaman individual.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0080" y="3440430"/>
            <a:ext cx="2108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Jawaban tidak konsisten</a:t>
            </a:r>
            <a:endParaRPr lang="en-US" sz="18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2771140" y="3383280"/>
            <a:ext cx="39497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cases harus diinvestigate ulang setiap kali.</a:t>
            </a:r>
            <a:endParaRPr lang="en-US" sz="1500" dirty="0"/>
          </a:p>
        </p:txBody>
      </p:sp>
      <p:grpSp>
        <p:nvGrpSpPr>
          <p:cNvPr id="33" name="Group 32"/>
          <p:cNvGrpSpPr/>
          <p:nvPr/>
        </p:nvGrpSpPr>
        <p:grpSpPr>
          <a:xfrm>
            <a:off x="7836535" y="1263650"/>
            <a:ext cx="4187825" cy="5056505"/>
            <a:chOff x="12341" y="1613"/>
            <a:chExt cx="6595" cy="7963"/>
          </a:xfrm>
        </p:grpSpPr>
        <p:sp>
          <p:nvSpPr>
            <p:cNvPr id="10" name="Shape 8"/>
            <p:cNvSpPr/>
            <p:nvPr/>
          </p:nvSpPr>
          <p:spPr>
            <a:xfrm>
              <a:off x="124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1" name="Shape 9"/>
            <p:cNvSpPr/>
            <p:nvPr/>
          </p:nvSpPr>
          <p:spPr>
            <a:xfrm>
              <a:off x="12528" y="2520"/>
              <a:ext cx="3168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2" name="Shape 10"/>
            <p:cNvSpPr/>
            <p:nvPr/>
          </p:nvSpPr>
          <p:spPr>
            <a:xfrm>
              <a:off x="13565" y="362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3" name="Shape 11"/>
            <p:cNvSpPr/>
            <p:nvPr/>
          </p:nvSpPr>
          <p:spPr>
            <a:xfrm>
              <a:off x="13680" y="3744"/>
              <a:ext cx="2016" cy="151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4" name="Shape 12"/>
            <p:cNvSpPr/>
            <p:nvPr/>
          </p:nvSpPr>
          <p:spPr>
            <a:xfrm>
              <a:off x="12341" y="6797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5" name="Shape 13"/>
            <p:cNvSpPr/>
            <p:nvPr/>
          </p:nvSpPr>
          <p:spPr>
            <a:xfrm>
              <a:off x="12456" y="5256"/>
              <a:ext cx="3240" cy="165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13853" y="8309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7" name="Shape 15"/>
            <p:cNvSpPr/>
            <p:nvPr/>
          </p:nvSpPr>
          <p:spPr>
            <a:xfrm>
              <a:off x="13968" y="5256"/>
              <a:ext cx="1728" cy="316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18" name="Shape 16"/>
            <p:cNvSpPr/>
            <p:nvPr/>
          </p:nvSpPr>
          <p:spPr>
            <a:xfrm>
              <a:off x="17813" y="24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19" name="Shape 17"/>
            <p:cNvSpPr/>
            <p:nvPr/>
          </p:nvSpPr>
          <p:spPr>
            <a:xfrm>
              <a:off x="15696" y="2520"/>
              <a:ext cx="2232" cy="27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0" name="Shape 18"/>
            <p:cNvSpPr/>
            <p:nvPr/>
          </p:nvSpPr>
          <p:spPr>
            <a:xfrm>
              <a:off x="18173" y="4205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1" name="Shape 19"/>
            <p:cNvSpPr/>
            <p:nvPr/>
          </p:nvSpPr>
          <p:spPr>
            <a:xfrm>
              <a:off x="15696" y="4320"/>
              <a:ext cx="2592" cy="936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2" name="Shape 20"/>
            <p:cNvSpPr/>
            <p:nvPr/>
          </p:nvSpPr>
          <p:spPr>
            <a:xfrm>
              <a:off x="17525" y="737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3" name="Shape 21"/>
            <p:cNvSpPr/>
            <p:nvPr/>
          </p:nvSpPr>
          <p:spPr>
            <a:xfrm>
              <a:off x="15696" y="5256"/>
              <a:ext cx="1944" cy="2232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4" name="Shape 22"/>
            <p:cNvSpPr/>
            <p:nvPr/>
          </p:nvSpPr>
          <p:spPr>
            <a:xfrm>
              <a:off x="17021" y="8741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5" name="Shape 23"/>
            <p:cNvSpPr/>
            <p:nvPr/>
          </p:nvSpPr>
          <p:spPr>
            <a:xfrm>
              <a:off x="15696" y="5256"/>
              <a:ext cx="1440" cy="3600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6" name="Shape 24"/>
            <p:cNvSpPr/>
            <p:nvPr/>
          </p:nvSpPr>
          <p:spPr>
            <a:xfrm>
              <a:off x="14429" y="1613"/>
              <a:ext cx="230" cy="230"/>
            </a:xfrm>
            <a:prstGeom prst="ellipse">
              <a:avLst/>
            </a:prstGeom>
            <a:solidFill>
              <a:srgbClr val="A8B0A8"/>
            </a:solidFill>
          </p:spPr>
        </p:sp>
        <p:sp>
          <p:nvSpPr>
            <p:cNvPr id="27" name="Shape 25"/>
            <p:cNvSpPr/>
            <p:nvPr/>
          </p:nvSpPr>
          <p:spPr>
            <a:xfrm>
              <a:off x="14544" y="1728"/>
              <a:ext cx="1152" cy="3528"/>
            </a:xfrm>
            <a:prstGeom prst="line">
              <a:avLst/>
            </a:prstGeom>
            <a:noFill/>
            <a:ln w="25400">
              <a:solidFill>
                <a:srgbClr val="10AF13"/>
              </a:solidFill>
              <a:prstDash val="solid"/>
              <a:tailEnd type="triangle"/>
            </a:ln>
          </p:spPr>
        </p:sp>
        <p:sp>
          <p:nvSpPr>
            <p:cNvPr id="28" name="Shape 26"/>
            <p:cNvSpPr/>
            <p:nvPr/>
          </p:nvSpPr>
          <p:spPr>
            <a:xfrm>
              <a:off x="14184" y="3744"/>
              <a:ext cx="3024" cy="3024"/>
            </a:xfrm>
            <a:prstGeom prst="ellipse">
              <a:avLst/>
            </a:prstGeom>
            <a:solidFill>
              <a:srgbClr val="10AF13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101600" dist="38100" dir="5400000" algn="bl" rotWithShape="0">
                <a:srgbClr val="000000">
                  <a:alpha val="18000"/>
                </a:srgbClr>
              </a:outerShdw>
            </a:effectLst>
          </p:spPr>
        </p:sp>
        <p:sp>
          <p:nvSpPr>
            <p:cNvPr id="29" name="Text 27"/>
            <p:cNvSpPr/>
            <p:nvPr/>
          </p:nvSpPr>
          <p:spPr>
            <a:xfrm>
              <a:off x="14256" y="4939"/>
              <a:ext cx="2880" cy="504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CSCoPilot</a:t>
              </a:r>
              <a:endParaRPr lang="en-US" sz="17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2600" y="9144"/>
              <a:ext cx="6336" cy="432"/>
            </a:xfrm>
            <a:prstGeom prst="rect">
              <a:avLst/>
            </a:prstGeom>
            <a:noFill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C7C0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chaos → order</a:t>
              </a:r>
              <a:endParaRPr lang="en-US" sz="1200" dirty="0"/>
            </a:p>
          </p:txBody>
        </p:sp>
      </p:grpSp>
      <p:sp>
        <p:nvSpPr>
          <p:cNvPr id="31" name="Shape 29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Faster. Consistent. Human-approved.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1290320000" dist="483870000" dir="-1" algn="bl" rotWithShape="0">
              <a:srgbClr val="000000">
                <a:alpha val="1800000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77240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answers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Pencarian SOP, FAQ, Guide, atau template dalam 3 menit.</a:t>
            </a:r>
            <a:endParaRPr lang="en-US" sz="13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-1" algn="bl" rotWithShape="0">
              <a:srgbClr val="000000">
                <a:alpha val="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507992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507992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4507992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replies</a:t>
            </a:r>
            <a:endParaRPr lang="en-US" sz="18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dari company knowledge dan communication standard.</a:t>
            </a:r>
            <a:endParaRPr lang="en-US" sz="13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352044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38744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38744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238744" y="2697480"/>
            <a:ext cx="2971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in control</a:t>
            </a:r>
            <a:endParaRPr lang="en-US" sz="18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3246120"/>
            <a:ext cx="29718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dan approve setiap draft sebelum disampaikan ke client.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Notion to human-approved reply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294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298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/>
        </p:nvSpPr>
        <p:spPr>
          <a:xfrm>
            <a:off x="18288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 of truth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7335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5186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7190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/>
        </p:nvSpPr>
        <p:spPr>
          <a:xfrm>
            <a:off x="297180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7180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Synced + searchable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4078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6082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576072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76072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Context-aware draft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51192" y="2926080"/>
            <a:ext cx="1728216" cy="0"/>
          </a:xfrm>
          <a:prstGeom prst="line">
            <a:avLst/>
          </a:prstGeom>
          <a:noFill/>
          <a:ln w="25400">
            <a:solidFill>
              <a:srgbClr val="10AF1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29700" y="2446020"/>
            <a:ext cx="960120" cy="96012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9740" y="2766060"/>
            <a:ext cx="320040" cy="32004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/>
        </p:nvSpPr>
        <p:spPr>
          <a:xfrm>
            <a:off x="8549640" y="3657600"/>
            <a:ext cx="1920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validation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49640" y="4041648"/>
            <a:ext cx="1920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· edit · kirim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4937760"/>
            <a:ext cx="121916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auto-send.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MVP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in the box.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6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49808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49808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17320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77240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login + protected routes.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279392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480560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480560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148072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507992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yang jelas ke core features.</a:t>
            </a:r>
            <a:endParaRPr lang="en-US" sz="12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10144" y="173736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211312" y="193852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8211312" y="195681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8878824" y="196596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8238744" y="256032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categories, dan detail.</a:t>
            </a:r>
            <a:endParaRPr lang="en-US" sz="12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2423160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2624328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2624328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3291840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2651760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Draft, edit, dan copy grounded replies.</a:t>
            </a:r>
            <a:endParaRPr lang="en-US" sz="1200" dirty="0"/>
          </a:p>
        </p:txBody>
      </p:sp>
      <p:sp>
        <p:nvSpPr>
          <p:cNvPr id="24" name="Shape 22"/>
          <p:cNvSpPr/>
          <p:nvPr>
            <p:custDataLst>
              <p:tags r:id="rId21"/>
            </p:custDataLst>
          </p:nvPr>
        </p:nvSpPr>
        <p:spPr>
          <a:xfrm>
            <a:off x="6153912" y="4069080"/>
            <a:ext cx="3456432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9" algn="bl" rotWithShape="0">
              <a:srgbClr val="000000">
                <a:alpha val="1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2"/>
            </p:custDataLst>
          </p:nvPr>
        </p:nvSpPr>
        <p:spPr>
          <a:xfrm>
            <a:off x="6355080" y="4270248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Text 24"/>
          <p:cNvSpPr/>
          <p:nvPr>
            <p:custDataLst>
              <p:tags r:id="rId23"/>
            </p:custDataLst>
          </p:nvPr>
        </p:nvSpPr>
        <p:spPr>
          <a:xfrm>
            <a:off x="6355080" y="4288536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>
            <p:custDataLst>
              <p:tags r:id="rId24"/>
            </p:custDataLst>
          </p:nvPr>
        </p:nvSpPr>
        <p:spPr>
          <a:xfrm>
            <a:off x="7022592" y="4297680"/>
            <a:ext cx="233172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&amp; Sync</a:t>
            </a:r>
            <a:endParaRPr lang="en-US" sz="1500" dirty="0"/>
          </a:p>
        </p:txBody>
      </p:sp>
      <p:sp>
        <p:nvSpPr>
          <p:cNvPr id="28" name="Text 26"/>
          <p:cNvSpPr/>
          <p:nvPr>
            <p:custDataLst>
              <p:tags r:id="rId25"/>
            </p:custDataLst>
          </p:nvPr>
        </p:nvSpPr>
        <p:spPr>
          <a:xfrm>
            <a:off x="6382512" y="4892040"/>
            <a:ext cx="2971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Supabase/PostgreSQL + Notion sync.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remains the single source of truth.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EXPERIENCE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See it in action.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5" algn="bl" rotWithShape="0">
              <a:srgbClr val="000000">
                <a:alpha val="1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7" name="Shape 5"/>
          <p:cNvSpPr/>
          <p:nvPr/>
        </p:nvSpPr>
        <p:spPr>
          <a:xfrm>
            <a:off x="914400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8" name="Shape 6"/>
          <p:cNvSpPr/>
          <p:nvPr/>
        </p:nvSpPr>
        <p:spPr>
          <a:xfrm>
            <a:off x="1078992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9" name="Text 7"/>
          <p:cNvSpPr/>
          <p:nvPr/>
        </p:nvSpPr>
        <p:spPr>
          <a:xfrm>
            <a:off x="822960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Knowledge Hub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E7F8E8"/>
          </a:solidFill>
          <a:ln w="12700">
            <a:solidFill>
              <a:srgbClr val="10AF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2432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Cari keyword atau category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72968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SOP Refund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3172968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Operasional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" y="3785616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85616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FAQ Reset Password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3785616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Akun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" y="4398264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398264"/>
            <a:ext cx="3291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 Keterlambatan Pengiriman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398264"/>
            <a:ext cx="1005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18504" y="1664208"/>
            <a:ext cx="5321808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3" algn="bl" rotWithShape="0">
              <a:srgbClr val="000000">
                <a:alpha val="1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7104" y="2011680"/>
            <a:ext cx="4864608" cy="0"/>
          </a:xfrm>
          <a:prstGeom prst="line">
            <a:avLst/>
          </a:prstGeom>
          <a:noFill/>
          <a:ln w="6350">
            <a:solidFill>
              <a:srgbClr val="E6E6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1828800"/>
            <a:ext cx="82296" cy="82296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4" name="Shape 22"/>
          <p:cNvSpPr/>
          <p:nvPr/>
        </p:nvSpPr>
        <p:spPr>
          <a:xfrm>
            <a:off x="6684264" y="1828800"/>
            <a:ext cx="82296" cy="82296"/>
          </a:xfrm>
          <a:prstGeom prst="ellipse">
            <a:avLst/>
          </a:prstGeom>
          <a:solidFill>
            <a:srgbClr val="F1C40F"/>
          </a:solidFill>
        </p:spPr>
      </p:sp>
      <p:sp>
        <p:nvSpPr>
          <p:cNvPr id="25" name="Shape 23"/>
          <p:cNvSpPr/>
          <p:nvPr/>
        </p:nvSpPr>
        <p:spPr>
          <a:xfrm>
            <a:off x="6848856" y="1828800"/>
            <a:ext cx="82296" cy="82296"/>
          </a:xfrm>
          <a:prstGeom prst="ellipse">
            <a:avLst/>
          </a:prstGeom>
          <a:solidFill>
            <a:srgbClr val="E85D75"/>
          </a:solidFill>
        </p:spPr>
      </p:sp>
      <p:sp>
        <p:nvSpPr>
          <p:cNvPr id="26" name="Text 24"/>
          <p:cNvSpPr/>
          <p:nvPr/>
        </p:nvSpPr>
        <p:spPr>
          <a:xfrm>
            <a:off x="6592824" y="223113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Response Assistant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92824" y="2651760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context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92824" y="2944368"/>
            <a:ext cx="4754880" cy="594360"/>
          </a:xfrm>
          <a:prstGeom prst="roundRect">
            <a:avLst>
              <a:gd name="adj" fmla="val 9231"/>
            </a:avLst>
          </a:prstGeom>
          <a:solidFill>
            <a:srgbClr val="E7F8E8"/>
          </a:solidFill>
          <a:ln w="9525">
            <a:solidFill>
              <a:srgbClr val="10AF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92824" y="3675888"/>
            <a:ext cx="1600200" cy="365760"/>
          </a:xfrm>
          <a:prstGeom prst="roundRect">
            <a:avLst>
              <a:gd name="adj" fmla="val 20000"/>
            </a:avLst>
          </a:prstGeom>
          <a:solidFill>
            <a:srgbClr val="10AF1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draft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92824" y="4270248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75704" y="438912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reply grounded in knowledge kamu…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2824" y="5065776"/>
            <a:ext cx="4754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Wajib di-review sebelum dipakai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Next.js · TypeScript · shadcn/ui · Tailwind CSS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 by design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tetap jadi source of truth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second database, semua edit tetap di Notion.</a:t>
            </a:r>
            <a:endParaRPr lang="en-US" sz="11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auto-reply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tidak langsung send ke client atau ambil final decision.</a:t>
            </a:r>
            <a:endParaRPr lang="en-US" sz="11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>
            <p:custDataLst>
              <p:tags r:id="rId13"/>
            </p:custDataLst>
          </p:nvPr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Secrets tetap server-side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keys dan credentials tidak masuk browser.</a:t>
            </a:r>
            <a:endParaRPr lang="en-US" sz="1100" dirty="0"/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state coverage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Loading, empty, error, unauthorized, dan session expired.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64140" y="5189220"/>
            <a:ext cx="1051560" cy="1051560"/>
          </a:xfrm>
          <a:prstGeom prst="ellipse">
            <a:avLst/>
          </a:prstGeom>
          <a:solidFill>
            <a:srgbClr val="0C7C0F"/>
          </a:solidFill>
          <a:ln w="19050">
            <a:solidFill>
              <a:srgbClr val="10AF1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614660" y="5539740"/>
            <a:ext cx="350520" cy="350520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6" name="Shape 24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88130" y="4876165"/>
            <a:ext cx="3892550" cy="6489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4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6185" y="1153160"/>
            <a:ext cx="4779010" cy="3521710"/>
          </a:xfrm>
          <a:prstGeom prst="rect">
            <a:avLst/>
          </a:prstGeom>
          <a:ln w="28575" cmpd="sng">
            <a:solidFill>
              <a:schemeClr val="accent6"/>
            </a:solidFill>
            <a:prstDash val="solid"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0C7C0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Timeline</a:t>
            </a:r>
            <a:endParaRPr lang="en-US" sz="36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E7F8E8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731520" y="1783080"/>
            <a:ext cx="227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</a:t>
            </a:r>
            <a:endParaRPr lang="en-US" sz="1200" dirty="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731520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MD</a:t>
            </a:r>
            <a:endParaRPr lang="en-US" sz="14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731520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12% dari total effort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3364992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3547745" y="1783080"/>
            <a:ext cx="226695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(Next.js)</a:t>
            </a:r>
            <a:endParaRPr lang="en-US" sz="1200" dirty="0"/>
          </a:p>
        </p:txBody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3547872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MD</a:t>
            </a:r>
            <a:endParaRPr lang="en-US" sz="14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3547872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29% dari total effort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181344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7" algn="bl" rotWithShape="0">
              <a:srgbClr val="000000">
                <a:alpha val="1"/>
              </a:srgbClr>
            </a:outerShdw>
          </a:effectLst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6363970" y="1783080"/>
            <a:ext cx="225488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364224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MD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364224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39% dari total effort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8997696" y="1600200"/>
            <a:ext cx="26151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6350">
            <a:solidFill>
              <a:srgbClr val="E6E6E6"/>
            </a:solidFill>
            <a:prstDash val="solid"/>
          </a:ln>
          <a:effectLst>
            <a:outerShdw blurRad="-2147483648" dist="-2147483648" dir="4" algn="bl" rotWithShape="0">
              <a:srgbClr val="000000">
                <a:alpha val="1"/>
              </a:srgbClr>
            </a:outerShdw>
          </a:effectLst>
        </p:spPr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9180830" y="1783080"/>
            <a:ext cx="2275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</a:t>
            </a:r>
            <a:endParaRPr lang="en-US" sz="12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9180576" y="2148840"/>
            <a:ext cx="2240280" cy="274320"/>
          </a:xfrm>
          <a:prstGeom prst="rect">
            <a:avLst/>
          </a:prstGeom>
          <a:noFill/>
        </p:spPr>
        <p:txBody>
          <a:bodyPr wrap="square" rtlCol="0" anchor="ctr">
            <a:normAutofit fontScale="800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MD</a:t>
            </a:r>
            <a:endParaRPr lang="en-US" sz="1400" dirty="0"/>
          </a:p>
        </p:txBody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9180576" y="254203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20% dari total effort</a:t>
            </a:r>
            <a:endParaRPr lang="en-US" sz="1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E7F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4175125"/>
            <a:ext cx="9776460" cy="1061720"/>
          </a:xfrm>
          <a:prstGeom prst="rect">
            <a:avLst/>
          </a:prstGeom>
        </p:spPr>
      </p:pic>
      <p:sp>
        <p:nvSpPr>
          <p:cNvPr id="30" name="Text 1"/>
          <p:cNvSpPr/>
          <p:nvPr/>
        </p:nvSpPr>
        <p:spPr>
          <a:xfrm>
            <a:off x="548640" y="3337433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Plan</a:t>
            </a:r>
            <a:endParaRPr lang="en-US" sz="3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129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RISKS</a:t>
            </a:r>
            <a:endParaRPr lang="en-US" sz="1100" dirty="0"/>
          </a:p>
        </p:txBody>
      </p:sp>
      <p:sp>
        <p:nvSpPr>
          <p:cNvPr id="130" name="Text 130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endParaRPr lang="en-US" sz="3600" dirty="0"/>
          </a:p>
        </p:txBody>
      </p:sp>
      <p:sp>
        <p:nvSpPr>
          <p:cNvPr id="131" name="Shape 131"/>
          <p:cNvSpPr/>
          <p:nvPr/>
        </p:nvSpPr>
        <p:spPr>
          <a:xfrm>
            <a:off x="548640" y="1217295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32" name="Shape 132"/>
          <p:cNvSpPr/>
          <p:nvPr/>
        </p:nvSpPr>
        <p:spPr>
          <a:xfrm>
            <a:off x="777240" y="1491615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3" name="Text 133"/>
          <p:cNvSpPr/>
          <p:nvPr/>
        </p:nvSpPr>
        <p:spPr>
          <a:xfrm>
            <a:off x="777240" y="1509903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34" name="Text 134"/>
          <p:cNvSpPr/>
          <p:nvPr/>
        </p:nvSpPr>
        <p:spPr>
          <a:xfrm>
            <a:off x="1463040" y="1588897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Dokumentasi Notion belum rapi</a:t>
            </a:r>
            <a:endParaRPr lang="en-US" sz="1500" dirty="0"/>
          </a:p>
        </p:txBody>
      </p:sp>
      <p:sp>
        <p:nvSpPr>
          <p:cNvPr id="135" name="Text 135"/>
          <p:cNvSpPr/>
          <p:nvPr/>
        </p:nvSpPr>
        <p:spPr>
          <a:xfrm>
            <a:off x="1463040" y="1994535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audit dan rapikan knowledge sebelum UAT.</a:t>
            </a:r>
            <a:endParaRPr lang="en-US" sz="1100" dirty="0"/>
          </a:p>
        </p:txBody>
      </p:sp>
      <p:sp>
        <p:nvSpPr>
          <p:cNvPr id="136" name="Shape 136"/>
          <p:cNvSpPr/>
          <p:nvPr/>
        </p:nvSpPr>
        <p:spPr>
          <a:xfrm>
            <a:off x="6126480" y="1217295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37" name="Shape 137"/>
          <p:cNvSpPr/>
          <p:nvPr/>
        </p:nvSpPr>
        <p:spPr>
          <a:xfrm>
            <a:off x="6355080" y="1491615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38" name="Text 138"/>
          <p:cNvSpPr/>
          <p:nvPr/>
        </p:nvSpPr>
        <p:spPr>
          <a:xfrm>
            <a:off x="6355080" y="1509903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39" name="Text 139"/>
          <p:cNvSpPr/>
          <p:nvPr/>
        </p:nvSpPr>
        <p:spPr>
          <a:xfrm>
            <a:off x="7040880" y="1588897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Struktur Notion tidak konsisten</a:t>
            </a:r>
            <a:endParaRPr lang="en-US" sz="1500" dirty="0"/>
          </a:p>
        </p:txBody>
      </p:sp>
      <p:sp>
        <p:nvSpPr>
          <p:cNvPr id="140" name="Text 140"/>
          <p:cNvSpPr/>
          <p:nvPr/>
        </p:nvSpPr>
        <p:spPr>
          <a:xfrm>
            <a:off x="7040880" y="1994535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tetapkan mapping kategori dan format data.</a:t>
            </a:r>
            <a:endParaRPr lang="en-US" sz="1100" dirty="0"/>
          </a:p>
        </p:txBody>
      </p:sp>
      <p:sp>
        <p:nvSpPr>
          <p:cNvPr id="141" name="Shape 141"/>
          <p:cNvSpPr/>
          <p:nvPr/>
        </p:nvSpPr>
        <p:spPr>
          <a:xfrm>
            <a:off x="548640" y="3302127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42" name="Shape 142"/>
          <p:cNvSpPr/>
          <p:nvPr/>
        </p:nvSpPr>
        <p:spPr>
          <a:xfrm>
            <a:off x="777240" y="3576447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3" name="Text 143"/>
          <p:cNvSpPr/>
          <p:nvPr/>
        </p:nvSpPr>
        <p:spPr>
          <a:xfrm>
            <a:off x="777240" y="3594735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4" name="Text 144"/>
          <p:cNvSpPr/>
          <p:nvPr/>
        </p:nvSpPr>
        <p:spPr>
          <a:xfrm>
            <a:off x="1463040" y="3673729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melebar</a:t>
            </a:r>
            <a:endParaRPr lang="en-US" sz="1500" dirty="0"/>
          </a:p>
        </p:txBody>
      </p:sp>
      <p:sp>
        <p:nvSpPr>
          <p:cNvPr id="145" name="Text 145"/>
          <p:cNvSpPr/>
          <p:nvPr/>
        </p:nvSpPr>
        <p:spPr>
          <a:xfrm>
            <a:off x="1463040" y="4079367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out-of-scope list jadi batas delivery.</a:t>
            </a:r>
            <a:endParaRPr lang="en-US" sz="1100" dirty="0"/>
          </a:p>
        </p:txBody>
      </p:sp>
      <p:sp>
        <p:nvSpPr>
          <p:cNvPr id="146" name="Shape 146"/>
          <p:cNvSpPr/>
          <p:nvPr/>
        </p:nvSpPr>
        <p:spPr>
          <a:xfrm>
            <a:off x="6126480" y="3302127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47" name="Shape 147"/>
          <p:cNvSpPr/>
          <p:nvPr/>
        </p:nvSpPr>
        <p:spPr>
          <a:xfrm>
            <a:off x="6355080" y="3576447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8" name="Text 148"/>
          <p:cNvSpPr/>
          <p:nvPr/>
        </p:nvSpPr>
        <p:spPr>
          <a:xfrm>
            <a:off x="6355080" y="3594735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49" name="Text 149"/>
          <p:cNvSpPr/>
          <p:nvPr/>
        </p:nvSpPr>
        <p:spPr>
          <a:xfrm>
            <a:off x="7040880" y="3673729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provider belum ditentukan</a:t>
            </a:r>
            <a:endParaRPr lang="en-US" sz="1500" dirty="0"/>
          </a:p>
        </p:txBody>
      </p:sp>
      <p:sp>
        <p:nvSpPr>
          <p:cNvPr id="150" name="Text 150"/>
          <p:cNvSpPr/>
          <p:nvPr/>
        </p:nvSpPr>
        <p:spPr>
          <a:xfrm>
            <a:off x="7040880" y="4079367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Mitigasi: konfirmasi config NextAuth sebelum sprint mulai.</a:t>
            </a:r>
            <a:endParaRPr lang="en-US" sz="1100" dirty="0"/>
          </a:p>
        </p:txBody>
      </p:sp>
      <p:sp>
        <p:nvSpPr>
          <p:cNvPr id="151" name="Shape 151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152" name="Text 152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153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SCOPE BOUNDARY</a:t>
            </a:r>
            <a:endParaRPr lang="en-US" sz="1100" dirty="0"/>
          </a:p>
        </p:txBody>
      </p:sp>
      <p:sp>
        <p:nvSpPr>
          <p:cNvPr id="154" name="Text 154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Yang tidak masuk MVP</a:t>
            </a:r>
            <a:endParaRPr lang="en-US" sz="3600" dirty="0"/>
          </a:p>
        </p:txBody>
      </p:sp>
      <p:sp>
        <p:nvSpPr>
          <p:cNvPr id="155" name="Shape 155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56" name="Shape 156"/>
          <p:cNvSpPr/>
          <p:nvPr/>
        </p:nvSpPr>
        <p:spPr>
          <a:xfrm>
            <a:off x="77724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57" name="Text 157"/>
          <p:cNvSpPr/>
          <p:nvPr/>
        </p:nvSpPr>
        <p:spPr>
          <a:xfrm>
            <a:off x="77724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158" name="Text 158"/>
          <p:cNvSpPr/>
          <p:nvPr/>
        </p:nvSpPr>
        <p:spPr>
          <a:xfrm>
            <a:off x="146304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ada auto-reply ke client</a:t>
            </a:r>
            <a:endParaRPr lang="en-US" sz="1500" dirty="0"/>
          </a:p>
        </p:txBody>
      </p:sp>
      <p:sp>
        <p:nvSpPr>
          <p:cNvPr id="159" name="Text 159"/>
          <p:cNvSpPr/>
          <p:nvPr/>
        </p:nvSpPr>
        <p:spPr>
          <a:xfrm>
            <a:off x="146304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Semua draft wajib direview manusia sebelum dipakai.</a:t>
            </a:r>
            <a:endParaRPr lang="en-US" sz="1100" dirty="0"/>
          </a:p>
        </p:txBody>
      </p:sp>
      <p:sp>
        <p:nvSpPr>
          <p:cNvPr id="160" name="Shape 160"/>
          <p:cNvSpPr/>
          <p:nvPr/>
        </p:nvSpPr>
        <p:spPr>
          <a:xfrm>
            <a:off x="612648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61" name="Shape 161"/>
          <p:cNvSpPr/>
          <p:nvPr/>
        </p:nvSpPr>
        <p:spPr>
          <a:xfrm>
            <a:off x="6355080" y="2011680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2" name="Text 162"/>
          <p:cNvSpPr/>
          <p:nvPr/>
        </p:nvSpPr>
        <p:spPr>
          <a:xfrm>
            <a:off x="6355080" y="2029968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63" name="Text 163"/>
          <p:cNvSpPr/>
          <p:nvPr/>
        </p:nvSpPr>
        <p:spPr>
          <a:xfrm>
            <a:off x="7040880" y="2108962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Bukan pengganti Notion</a:t>
            </a:r>
            <a:endParaRPr lang="en-US" sz="1500" dirty="0"/>
          </a:p>
        </p:txBody>
      </p:sp>
      <p:sp>
        <p:nvSpPr>
          <p:cNvPr id="164" name="Text 164"/>
          <p:cNvSpPr/>
          <p:nvPr/>
        </p:nvSpPr>
        <p:spPr>
          <a:xfrm>
            <a:off x="7040880" y="2514600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Notion tetap pusat dokumentasi; edit tetap di Notion.</a:t>
            </a:r>
            <a:endParaRPr lang="en-US" sz="1100" dirty="0"/>
          </a:p>
        </p:txBody>
      </p:sp>
      <p:sp>
        <p:nvSpPr>
          <p:cNvPr id="165" name="Shape 165"/>
          <p:cNvSpPr/>
          <p:nvPr/>
        </p:nvSpPr>
        <p:spPr>
          <a:xfrm>
            <a:off x="54864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66" name="Shape 166"/>
          <p:cNvSpPr/>
          <p:nvPr/>
        </p:nvSpPr>
        <p:spPr>
          <a:xfrm>
            <a:off x="77724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7" name="Text 167"/>
          <p:cNvSpPr/>
          <p:nvPr/>
        </p:nvSpPr>
        <p:spPr>
          <a:xfrm>
            <a:off x="77724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68" name="Text 168"/>
          <p:cNvSpPr/>
          <p:nvPr/>
        </p:nvSpPr>
        <p:spPr>
          <a:xfrm>
            <a:off x="146304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Tanpa edit dokumen dari CSCoPilot</a:t>
            </a:r>
            <a:endParaRPr lang="en-US" sz="1500" dirty="0"/>
          </a:p>
        </p:txBody>
      </p:sp>
      <p:sp>
        <p:nvSpPr>
          <p:cNvPr id="169" name="Text 169"/>
          <p:cNvSpPr/>
          <p:nvPr/>
        </p:nvSpPr>
        <p:spPr>
          <a:xfrm>
            <a:off x="146304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Aplikasi membaca knowledge, tidak menulis balik.</a:t>
            </a:r>
            <a:endParaRPr lang="en-US" sz="1100" dirty="0"/>
          </a:p>
        </p:txBody>
      </p:sp>
      <p:sp>
        <p:nvSpPr>
          <p:cNvPr id="170" name="Shape 170"/>
          <p:cNvSpPr/>
          <p:nvPr/>
        </p:nvSpPr>
        <p:spPr>
          <a:xfrm>
            <a:off x="6126480" y="3822192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0C7C0F">
              <a:alpha val="80000"/>
            </a:srgbClr>
          </a:solidFill>
          <a:ln w="8890">
            <a:solidFill>
              <a:srgbClr val="10AF13">
                <a:alpha val="55000"/>
              </a:srgbClr>
            </a:solidFill>
            <a:prstDash val="solid"/>
          </a:ln>
        </p:spPr>
      </p:sp>
      <p:sp>
        <p:nvSpPr>
          <p:cNvPr id="171" name="Shape 171"/>
          <p:cNvSpPr/>
          <p:nvPr/>
        </p:nvSpPr>
        <p:spPr>
          <a:xfrm>
            <a:off x="6355080" y="4096512"/>
            <a:ext cx="530352" cy="53035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72" name="Text 172"/>
          <p:cNvSpPr/>
          <p:nvPr/>
        </p:nvSpPr>
        <p:spPr>
          <a:xfrm>
            <a:off x="6355080" y="4114800"/>
            <a:ext cx="530352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73" name="Text 173"/>
          <p:cNvSpPr/>
          <p:nvPr/>
        </p:nvSpPr>
        <p:spPr>
          <a:xfrm>
            <a:off x="7040880" y="4193794"/>
            <a:ext cx="420624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Belum ada halaman admin</a:t>
            </a:r>
            <a:endParaRPr lang="en-US" sz="1500" dirty="0"/>
          </a:p>
        </p:txBody>
      </p:sp>
      <p:sp>
        <p:nvSpPr>
          <p:cNvPr id="174" name="Text 174"/>
          <p:cNvSpPr/>
          <p:nvPr/>
        </p:nvSpPr>
        <p:spPr>
          <a:xfrm>
            <a:off x="7040880" y="4599432"/>
            <a:ext cx="41605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Proses internal dulu; admin UI menyusul setelah MVP.</a:t>
            </a:r>
            <a:endParaRPr lang="en-US" sz="1100" dirty="0"/>
          </a:p>
        </p:txBody>
      </p:sp>
      <p:sp>
        <p:nvSpPr>
          <p:cNvPr id="175" name="Shape 175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176" name="Text 176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9728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2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&amp; KICKOFF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2" algn="bl" rotWithShape="0">
              <a:srgbClr val="000000">
                <a:alpha val="1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194560" y="184708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Julia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PM · Design · Frontend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634740"/>
            <a:ext cx="1280160" cy="1280160"/>
          </a:xfrm>
          <a:prstGeom prst="roundRect">
            <a:avLst>
              <a:gd name="adj" fmla="val 11429"/>
            </a:avLst>
          </a:prstGeom>
          <a:solidFill>
            <a:srgbClr val="10AF13"/>
          </a:solidFill>
          <a:effectLst>
            <a:outerShdw blurRad="-2147483648" dist="-2147483648" dir="1" algn="bl" rotWithShape="0">
              <a:srgbClr val="000000">
                <a:alpha val="1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3634740"/>
            <a:ext cx="12801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94560" y="3698748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Hilmi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2194560" y="413766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 · QA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69164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0A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CONFIRM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47002" y="2231390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4" name="Text 12"/>
          <p:cNvSpPr/>
          <p:nvPr/>
        </p:nvSpPr>
        <p:spPr>
          <a:xfrm>
            <a:off x="6858000" y="2029968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Akses Notion + content taxonomy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47002" y="2798318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6" name="Text 14"/>
          <p:cNvSpPr/>
          <p:nvPr/>
        </p:nvSpPr>
        <p:spPr>
          <a:xfrm>
            <a:off x="6858000" y="2596896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provider config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47002" y="3365246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18" name="Text 16"/>
          <p:cNvSpPr/>
          <p:nvPr/>
        </p:nvSpPr>
        <p:spPr>
          <a:xfrm>
            <a:off x="6858000" y="3163824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 API · Supabase · hosting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7002" y="3932174"/>
            <a:ext cx="118872" cy="118872"/>
          </a:xfrm>
          <a:prstGeom prst="ellipse">
            <a:avLst/>
          </a:prstGeom>
          <a:solidFill>
            <a:srgbClr val="10AF13"/>
          </a:solidFill>
        </p:spPr>
      </p:sp>
      <p:sp>
        <p:nvSpPr>
          <p:cNvPr id="20" name="Text 18"/>
          <p:cNvSpPr/>
          <p:nvPr/>
        </p:nvSpPr>
        <p:spPr>
          <a:xfrm>
            <a:off x="6858000" y="3730752"/>
            <a:ext cx="4754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UAT scenarios dari Customer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" y="521208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02920" y="6400800"/>
            <a:ext cx="11155680" cy="0"/>
          </a:xfrm>
          <a:prstGeom prst="line">
            <a:avLst/>
          </a:prstGeom>
          <a:noFill/>
          <a:ln w="12700">
            <a:solidFill>
              <a:srgbClr val="0C7C0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B0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CSCoPilot  ·  Client Kickoff  ·  Confidential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2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3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4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5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6.xml><?xml version="1.0" encoding="utf-8"?>
<p:tagLst xmlns:p="http://schemas.openxmlformats.org/presentationml/2006/main">
  <p:tag name="KSO_WM_DIAGRAM_VIRTUALLY_FRAME" val="{&quot;height&quot;:165.6,&quot;left&quot;:50.4,&quot;top&quot;:133.2,&quot;width&quot;:478.8}"/>
</p:tagLst>
</file>

<file path=ppt/tags/tag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2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3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4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5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6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7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8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19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0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1.xml><?xml version="1.0" encoding="utf-8"?>
<p:tagLst xmlns:p="http://schemas.openxmlformats.org/presentationml/2006/main">
  <p:tag name="KSO_WM_DIAGRAM_VIRTUALLY_FRAME" val="{&quot;height&quot;:277.2,&quot;left&quot;:43.2,&quot;top&quot;:136.8,&quot;width&quot;:859.68}"/>
</p:tagLst>
</file>

<file path=ppt/tags/tag2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2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7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8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39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0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1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2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3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4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5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6.xml><?xml version="1.0" encoding="utf-8"?>
<p:tagLst xmlns:p="http://schemas.openxmlformats.org/presentationml/2006/main">
  <p:tag name="KSO_WM_DIAGRAM_VIRTUALLY_FRAME" val="{&quot;height&quot;:320.4,&quot;left&quot;:43.2,&quot;top&quot;:136.8,&quot;width&quot;:859.68}"/>
</p:tagLst>
</file>

<file path=ppt/tags/tag4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4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7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8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59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0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1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2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3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4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5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6.xml><?xml version="1.0" encoding="utf-8"?>
<p:tagLst xmlns:p="http://schemas.openxmlformats.org/presentationml/2006/main">
  <p:tag name="KSO_WM_DIAGRAM_VIRTUALLY_FRAME" val="{&quot;height&quot;:293.76000000000005,&quot;left&quot;:43.2,&quot;top&quot;:136.8,&quot;width&quot;:867.6}"/>
</p:tagLst>
</file>

<file path=ppt/tags/tag67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68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69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0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1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2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3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4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5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6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7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8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79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80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81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ags/tag82.xml><?xml version="1.0" encoding="utf-8"?>
<p:tagLst xmlns:p="http://schemas.openxmlformats.org/presentationml/2006/main">
  <p:tag name="KSO_WM_DIAGRAM_VIRTUALLY_FRAME" val="{&quot;height&quot;:116.64000000000001,&quot;left&quot;:43.2,&quot;top&quot;:126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3437</Words>
  <Application>WPS Presentation</Application>
  <PresentationFormat>On-screen Show (16:9)</PresentationFormat>
  <Paragraphs>304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CSCoPilot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CSCoPilot — Client Kickoff / Kickoff Klien</dc:title>
  <dc:creator>CSCoPilot</dc:creator>
  <dc:subject>PptxGenJS Presentation</dc:subject>
  <cp:lastModifiedBy>TDI021</cp:lastModifiedBy>
  <cp:revision>5</cp:revision>
  <dcterms:created xsi:type="dcterms:W3CDTF">2026-08-12T08:27:00Z</dcterms:created>
  <dcterms:modified xsi:type="dcterms:W3CDTF">2026-08-12T15:37:08Z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6067D4BEC8674FF696EE334E90859D4E_12</vt:lpwstr>
  </property>
  <property fmtid="{D5CDD505-2E9C-101B-9397-08002B2CF9AE}" pid="3" name="KSOProductBuildVer">
    <vt:lpwstr>2057-12.2.0.23206</vt:lpwstr>
  </property>
</Properties>
</file>