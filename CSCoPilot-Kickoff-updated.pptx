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5" r:id="rId12"/>
    <p:sldId id="263" r:id="rId13"/>
    <p:sldId id="300" r:id="rId101"/>
    <p:sldId id="301" r:id="rId102"/>
    <p:sldId id="302" r:id="rId103"/>
    <p:sldId id="264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101" Type="http://schemas.openxmlformats.org/officeDocument/2006/relationships/slide" Target="slides/slide11.xml"/><Relationship Id="rId102" Type="http://schemas.openxmlformats.org/officeDocument/2006/relationships/slide" Target="slides/slide12.xml"/><Relationship Id="rId103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46.xml"/><Relationship Id="rId24" Type="http://schemas.openxmlformats.org/officeDocument/2006/relationships/tags" Target="../tags/tag45.xml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openxmlformats.org/officeDocument/2006/relationships/tags" Target="../tags/tag23.xml"/><Relationship Id="rId19" Type="http://schemas.openxmlformats.org/officeDocument/2006/relationships/tags" Target="../tags/tag40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66.xml"/><Relationship Id="rId2" Type="http://schemas.openxmlformats.org/officeDocument/2006/relationships/tags" Target="../tags/tag48.xml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3208" y="987552"/>
            <a:ext cx="2011680" cy="201168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3768" y="1658112"/>
            <a:ext cx="670560" cy="67056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4" name="Text 2"/>
          <p:cNvSpPr/>
          <p:nvPr/>
        </p:nvSpPr>
        <p:spPr>
          <a:xfrm>
            <a:off x="0" y="3246120"/>
            <a:ext cx="12191695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4800600" y="4224528"/>
            <a:ext cx="2606040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480560"/>
            <a:ext cx="121916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Decision Support untuk Customer Support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74920"/>
            <a:ext cx="121916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Kickoff · Internal Business Improvement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is everywhere. Tapi susah dicari.</a:t>
            </a:r>
            <a:endParaRPr lang="en-US" sz="36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640080" y="1757680"/>
            <a:ext cx="2108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tersebar</a:t>
            </a:r>
            <a:endParaRPr lang="en-US" sz="1800"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2771140" y="1700530"/>
            <a:ext cx="39497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live across docs, chats, dan pengalaman orang-orang.</a:t>
            </a: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640080" y="2607310"/>
            <a:ext cx="2108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Onboarding lambat</a:t>
            </a:r>
            <a:endParaRPr lang="en-US" sz="18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2771140" y="2541905"/>
            <a:ext cx="39497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agents masih bergantung pada pengalaman individual.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640080" y="3440430"/>
            <a:ext cx="2108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Jawaban tidak konsisten</a:t>
            </a:r>
            <a:endParaRPr lang="en-US" sz="18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2771140" y="3383280"/>
            <a:ext cx="39497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 cases harus diinvestigate ulang setiap kali.</a:t>
            </a:r>
            <a:endParaRPr lang="en-US" sz="1500" dirty="0"/>
          </a:p>
        </p:txBody>
      </p:sp>
      <p:grpSp>
        <p:nvGrpSpPr>
          <p:cNvPr id="33" name="Group 32"/>
          <p:cNvGrpSpPr/>
          <p:nvPr/>
        </p:nvGrpSpPr>
        <p:grpSpPr>
          <a:xfrm>
            <a:off x="7836535" y="1263650"/>
            <a:ext cx="4187825" cy="5056505"/>
            <a:chOff x="12341" y="1613"/>
            <a:chExt cx="6595" cy="7963"/>
          </a:xfrm>
        </p:grpSpPr>
        <p:sp>
          <p:nvSpPr>
            <p:cNvPr id="10" name="Shape 8"/>
            <p:cNvSpPr/>
            <p:nvPr/>
          </p:nvSpPr>
          <p:spPr>
            <a:xfrm>
              <a:off x="12413" y="2405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1" name="Shape 9"/>
            <p:cNvSpPr/>
            <p:nvPr/>
          </p:nvSpPr>
          <p:spPr>
            <a:xfrm>
              <a:off x="12528" y="2520"/>
              <a:ext cx="3168" cy="273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2" name="Shape 10"/>
            <p:cNvSpPr/>
            <p:nvPr/>
          </p:nvSpPr>
          <p:spPr>
            <a:xfrm>
              <a:off x="13565" y="3629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13680" y="3744"/>
              <a:ext cx="2016" cy="1512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4" name="Shape 12"/>
            <p:cNvSpPr/>
            <p:nvPr/>
          </p:nvSpPr>
          <p:spPr>
            <a:xfrm>
              <a:off x="12341" y="6797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5" name="Shape 13"/>
            <p:cNvSpPr/>
            <p:nvPr/>
          </p:nvSpPr>
          <p:spPr>
            <a:xfrm>
              <a:off x="12456" y="5256"/>
              <a:ext cx="3240" cy="165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6" name="Shape 14"/>
            <p:cNvSpPr/>
            <p:nvPr/>
          </p:nvSpPr>
          <p:spPr>
            <a:xfrm>
              <a:off x="13853" y="8309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7" name="Shape 15"/>
            <p:cNvSpPr/>
            <p:nvPr/>
          </p:nvSpPr>
          <p:spPr>
            <a:xfrm>
              <a:off x="13968" y="5256"/>
              <a:ext cx="1728" cy="3168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8" name="Shape 16"/>
            <p:cNvSpPr/>
            <p:nvPr/>
          </p:nvSpPr>
          <p:spPr>
            <a:xfrm>
              <a:off x="17813" y="2405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9" name="Shape 17"/>
            <p:cNvSpPr/>
            <p:nvPr/>
          </p:nvSpPr>
          <p:spPr>
            <a:xfrm>
              <a:off x="15696" y="2520"/>
              <a:ext cx="2232" cy="273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0" name="Shape 18"/>
            <p:cNvSpPr/>
            <p:nvPr/>
          </p:nvSpPr>
          <p:spPr>
            <a:xfrm>
              <a:off x="18173" y="4205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1" name="Shape 19"/>
            <p:cNvSpPr/>
            <p:nvPr/>
          </p:nvSpPr>
          <p:spPr>
            <a:xfrm>
              <a:off x="15696" y="4320"/>
              <a:ext cx="2592" cy="93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2" name="Shape 20"/>
            <p:cNvSpPr/>
            <p:nvPr/>
          </p:nvSpPr>
          <p:spPr>
            <a:xfrm>
              <a:off x="17525" y="7373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3" name="Shape 21"/>
            <p:cNvSpPr/>
            <p:nvPr/>
          </p:nvSpPr>
          <p:spPr>
            <a:xfrm>
              <a:off x="15696" y="5256"/>
              <a:ext cx="1944" cy="2232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4" name="Shape 22"/>
            <p:cNvSpPr/>
            <p:nvPr/>
          </p:nvSpPr>
          <p:spPr>
            <a:xfrm>
              <a:off x="17021" y="8741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5" name="Shape 23"/>
            <p:cNvSpPr/>
            <p:nvPr/>
          </p:nvSpPr>
          <p:spPr>
            <a:xfrm>
              <a:off x="15696" y="5256"/>
              <a:ext cx="1440" cy="3600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6" name="Shape 24"/>
            <p:cNvSpPr/>
            <p:nvPr/>
          </p:nvSpPr>
          <p:spPr>
            <a:xfrm>
              <a:off x="14429" y="1613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7" name="Shape 25"/>
            <p:cNvSpPr/>
            <p:nvPr/>
          </p:nvSpPr>
          <p:spPr>
            <a:xfrm>
              <a:off x="14544" y="1728"/>
              <a:ext cx="1152" cy="3528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8" name="Shape 26"/>
            <p:cNvSpPr/>
            <p:nvPr/>
          </p:nvSpPr>
          <p:spPr>
            <a:xfrm>
              <a:off x="14184" y="3744"/>
              <a:ext cx="3024" cy="3024"/>
            </a:xfrm>
            <a:prstGeom prst="ellipse">
              <a:avLst/>
            </a:prstGeom>
            <a:solidFill>
              <a:srgbClr val="10AF13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9" name="Text 27"/>
            <p:cNvSpPr/>
            <p:nvPr/>
          </p:nvSpPr>
          <p:spPr>
            <a:xfrm>
              <a:off x="14256" y="4939"/>
              <a:ext cx="2880" cy="50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CSCoPilot</a:t>
              </a:r>
              <a:endParaRPr lang="en-US" sz="17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2600" y="9144"/>
              <a:ext cx="6336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C7C0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chaos → order</a:t>
              </a:r>
              <a:endParaRPr lang="en-US" sz="1200" dirty="0"/>
            </a:p>
          </p:txBody>
        </p:sp>
      </p:grpSp>
      <p:sp>
        <p:nvSpPr>
          <p:cNvPr id="31" name="Shape 29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PROMISE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Faster. Consistent. Human-approved.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737360"/>
            <a:ext cx="3456432" cy="35204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1290320000" dist="483870000" dir="-1" algn="bl" rotWithShape="0">
              <a:srgbClr val="000000">
                <a:alpha val="1800000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7724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7724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777240" y="2697480"/>
            <a:ext cx="2971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answers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77240" y="3246120"/>
            <a:ext cx="2971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Pencarian SOP, FAQ, Guide, atau template dalam 3 menit.</a:t>
            </a:r>
            <a:endParaRPr lang="en-US" sz="13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279392" y="1737360"/>
            <a:ext cx="3456432" cy="3520440"/>
          </a:xfrm>
          <a:prstGeom prst="roundRect">
            <a:avLst>
              <a:gd name="adj" fmla="val 3175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-1" algn="bl" rotWithShape="0">
              <a:srgbClr val="000000">
                <a:alpha val="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507992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507992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4507992" y="2697480"/>
            <a:ext cx="2971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replies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507992" y="3246120"/>
            <a:ext cx="2971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dari company knowledge dan communication standard.</a:t>
            </a:r>
            <a:endParaRPr lang="en-US" sz="13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8010144" y="1737360"/>
            <a:ext cx="3456432" cy="35204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8238744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8238744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8238744" y="2697480"/>
            <a:ext cx="2971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in control</a:t>
            </a:r>
            <a:endParaRPr lang="en-US" sz="18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8238744" y="3246120"/>
            <a:ext cx="2971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dan approve setiap draft sebelum disampaikan ke client.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Notion to human-approved reply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2940" y="2446020"/>
            <a:ext cx="960120" cy="96012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/>
        </p:nvSpPr>
        <p:spPr>
          <a:xfrm>
            <a:off x="18288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of truth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73352" y="2926080"/>
            <a:ext cx="1728216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51860" y="2446020"/>
            <a:ext cx="960120" cy="96012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190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/>
        </p:nvSpPr>
        <p:spPr>
          <a:xfrm>
            <a:off x="297180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Hub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Synced + searchable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2272" y="2926080"/>
            <a:ext cx="1728216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40780" y="2446020"/>
            <a:ext cx="960120" cy="96012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6082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/>
        </p:nvSpPr>
        <p:spPr>
          <a:xfrm>
            <a:off x="576072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6072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Context-aware draft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51192" y="2926080"/>
            <a:ext cx="1728216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29700" y="2446020"/>
            <a:ext cx="960120" cy="96012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4974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1" name="Text 19"/>
          <p:cNvSpPr/>
          <p:nvPr/>
        </p:nvSpPr>
        <p:spPr>
          <a:xfrm>
            <a:off x="854964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validation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964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· edit · kirim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937760"/>
            <a:ext cx="121916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Tidak auto-send.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MVP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in the box.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737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6" algn="bl" rotWithShape="0">
              <a:srgbClr val="000000">
                <a:alpha val="1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49808" y="193852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49808" y="195681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417320" y="196596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77240" y="256032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login + protected routes.</a:t>
            </a:r>
            <a:endParaRPr lang="en-US" sz="12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279392" y="1737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4" algn="bl" rotWithShape="0">
              <a:srgbClr val="000000">
                <a:alpha val="1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480560" y="193852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480560" y="195681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5148072" y="196596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507992" y="256032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yang jelas ke core features.</a:t>
            </a:r>
            <a:endParaRPr lang="en-US" sz="12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8010144" y="1737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2" algn="bl" rotWithShape="0">
              <a:srgbClr val="000000">
                <a:alpha val="1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8211312" y="193852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8211312" y="195681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8878824" y="196596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Hub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8238744" y="256032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Search, categories, dan detail.</a:t>
            </a:r>
            <a:endParaRPr lang="en-US" sz="12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2423160" y="406908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2624328" y="427024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2624328" y="428853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3291840" y="429768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Response Assistant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2651760" y="489204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Draft, edit, dan copy grounded replies.</a:t>
            </a:r>
            <a:endParaRPr lang="en-US" sz="120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>
            <a:off x="6153912" y="406908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9" algn="bl" rotWithShape="0">
              <a:srgbClr val="000000">
                <a:alpha val="1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6355080" y="427024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6355080" y="428853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7022592" y="429768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&amp; Sync</a:t>
            </a:r>
            <a:endParaRPr lang="en-US" sz="1500" dirty="0"/>
          </a:p>
        </p:txBody>
      </p:sp>
      <p:sp>
        <p:nvSpPr>
          <p:cNvPr id="28" name="Text 26"/>
          <p:cNvSpPr/>
          <p:nvPr>
            <p:custDataLst>
              <p:tags r:id="rId25"/>
            </p:custDataLst>
          </p:nvPr>
        </p:nvSpPr>
        <p:spPr>
          <a:xfrm>
            <a:off x="6382512" y="489204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Supabase/PostgreSQL + Notion sync.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Notion remains the single source of truth.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EXPERIENCE PREVIEW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it in action.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321808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5" algn="bl" rotWithShape="0">
              <a:srgbClr val="000000">
                <a:alpha val="1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864608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28800"/>
            <a:ext cx="82296" cy="82296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7" name="Shape 5"/>
          <p:cNvSpPr/>
          <p:nvPr/>
        </p:nvSpPr>
        <p:spPr>
          <a:xfrm>
            <a:off x="914400" y="1828800"/>
            <a:ext cx="82296" cy="82296"/>
          </a:xfrm>
          <a:prstGeom prst="ellipse">
            <a:avLst/>
          </a:prstGeom>
          <a:solidFill>
            <a:srgbClr val="F1C40F"/>
          </a:solidFill>
        </p:spPr>
      </p:sp>
      <p:sp>
        <p:nvSpPr>
          <p:cNvPr id="8" name="Shape 6"/>
          <p:cNvSpPr/>
          <p:nvPr/>
        </p:nvSpPr>
        <p:spPr>
          <a:xfrm>
            <a:off x="1078992" y="1828800"/>
            <a:ext cx="82296" cy="82296"/>
          </a:xfrm>
          <a:prstGeom prst="ellipse">
            <a:avLst/>
          </a:prstGeom>
          <a:solidFill>
            <a:srgbClr val="E85D75"/>
          </a:solidFill>
        </p:spPr>
      </p:sp>
      <p:sp>
        <p:nvSpPr>
          <p:cNvPr id="9" name="Text 7"/>
          <p:cNvSpPr/>
          <p:nvPr/>
        </p:nvSpPr>
        <p:spPr>
          <a:xfrm>
            <a:off x="822960" y="2231136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Hub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624328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E7F8E8"/>
          </a:solidFill>
          <a:ln w="12700">
            <a:solidFill>
              <a:srgbClr val="10AF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2432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Cari keyword atau category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72968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SOP Refund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3172968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Operasional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3785616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85616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FAQ Reset Password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3785616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Akun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4398264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398264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 Keterlambatan Pengiriman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4398264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18504" y="1664208"/>
            <a:ext cx="5321808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3" algn="bl" rotWithShape="0">
              <a:srgbClr val="000000">
                <a:alpha val="1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47104" y="2011680"/>
            <a:ext cx="4864608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1828800"/>
            <a:ext cx="82296" cy="82296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4" name="Shape 22"/>
          <p:cNvSpPr/>
          <p:nvPr/>
        </p:nvSpPr>
        <p:spPr>
          <a:xfrm>
            <a:off x="6684264" y="1828800"/>
            <a:ext cx="82296" cy="82296"/>
          </a:xfrm>
          <a:prstGeom prst="ellipse">
            <a:avLst/>
          </a:prstGeom>
          <a:solidFill>
            <a:srgbClr val="F1C40F"/>
          </a:solidFill>
        </p:spPr>
      </p:sp>
      <p:sp>
        <p:nvSpPr>
          <p:cNvPr id="25" name="Shape 23"/>
          <p:cNvSpPr/>
          <p:nvPr/>
        </p:nvSpPr>
        <p:spPr>
          <a:xfrm>
            <a:off x="6848856" y="1828800"/>
            <a:ext cx="82296" cy="82296"/>
          </a:xfrm>
          <a:prstGeom prst="ellipse">
            <a:avLst/>
          </a:prstGeom>
          <a:solidFill>
            <a:srgbClr val="E85D75"/>
          </a:solidFill>
        </p:spPr>
      </p:sp>
      <p:sp>
        <p:nvSpPr>
          <p:cNvPr id="26" name="Text 24"/>
          <p:cNvSpPr/>
          <p:nvPr/>
        </p:nvSpPr>
        <p:spPr>
          <a:xfrm>
            <a:off x="6592824" y="2231136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Response Assistant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2824" y="2651760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context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92824" y="2944368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E7F8E8"/>
          </a:solidFill>
          <a:ln w="9525">
            <a:solidFill>
              <a:srgbClr val="10AF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3675888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10AF1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draft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92824" y="4270248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75704" y="438912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reply grounded in knowledge kamu…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92824" y="5065776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Wajib di-review sebelum dipakai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Next.js · TypeScript · shadcn/ui · Tailwind CSS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 by design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7724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7724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46304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Notion tetap jadi source of truth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46304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second database, semua edit tetap di Notion.</a:t>
            </a:r>
            <a:endParaRPr lang="en-US" sz="11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612648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635508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635508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704088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auto-reply, ever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704088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tidak langsung send ke client atau ambil final decision.</a:t>
            </a:r>
            <a:endParaRPr lang="en-US" sz="11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54864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77724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77724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146304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Secrets tetap server-side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46304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keys dan credentials tidak masuk browser.</a:t>
            </a:r>
            <a:endParaRPr lang="en-US" sz="11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612648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635508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635508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704088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state coverage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704088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Loading, empty, error, unauthorized, dan session expired.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64140" y="5189220"/>
            <a:ext cx="1051560" cy="105156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14660" y="5539740"/>
            <a:ext cx="350520" cy="35052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6" name="Shape 24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Wireframe preview</a:t>
            </a:r>
            <a:endParaRPr lang="en-US" sz="3600" b="1" dirty="0"/>
          </a:p>
        </p:txBody>
      </p:sp>
      <p:sp>
        <p:nvSpPr>
          <p:cNvPr id="6" name="Text 4"/>
          <p:cNvSpPr/>
          <p:nvPr/>
        </p:nvSpPr>
        <p:spPr>
          <a:xfrm>
            <a:off x="4088130" y="4876165"/>
            <a:ext cx="3892550" cy="6489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WIREFRAME</a:t>
            </a:r>
            <a:endParaRPr lang="en-US" sz="4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185" y="1153160"/>
            <a:ext cx="4779010" cy="3521710"/>
          </a:xfrm>
          <a:prstGeom prst="rect">
            <a:avLst/>
          </a:prstGeom>
          <a:ln w="28575" cmpd="sng">
            <a:solidFill>
              <a:schemeClr val="accent6"/>
            </a:solidFill>
            <a:prstDash val="solid"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Minggu 1 · Design + setup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64992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178308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47872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build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47872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Minggu 2 · Auth + Hub + sync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7" algn="bl" rotWithShape="0">
              <a:srgbClr val="000000">
                <a:alpha val="1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78308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64224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64224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Minggu 3 · AI Assistant end-to-end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97696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4" algn="bl" rotWithShape="0">
              <a:srgbClr val="000000">
                <a:alpha val="1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0576" y="178308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80576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QA &amp; Release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0576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Minggu 4 · UAT + deployment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4175125"/>
            <a:ext cx="9776460" cy="1061720"/>
          </a:xfrm>
          <a:prstGeom prst="rect">
            <a:avLst/>
          </a:prstGeom>
        </p:spPr>
      </p:pic>
      <p:sp>
        <p:nvSpPr>
          <p:cNvPr id="30" name="Text 1"/>
          <p:cNvSpPr/>
          <p:nvPr/>
        </p:nvSpPr>
        <p:spPr>
          <a:xfrm>
            <a:off x="548640" y="3337433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Plan</a:t>
            </a:r>
            <a:endParaRPr lang="en-US" sz="36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&amp; KICKOFF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Team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280160" cy="1280160"/>
          </a:xfrm>
          <a:prstGeom prst="roundRect">
            <a:avLst>
              <a:gd name="adj" fmla="val 11429"/>
            </a:avLst>
          </a:prstGeom>
          <a:solidFill>
            <a:srgbClr val="10AF13"/>
          </a:solidFill>
          <a:effectLst>
            <a:outerShdw blurRad="-2147483648" dist="-2147483648" dir="2" algn="bl" rotWithShape="0">
              <a:srgbClr val="000000">
                <a:alpha val="1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12801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94560" y="184708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Julia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PM · Design · Frontend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634740"/>
            <a:ext cx="1280160" cy="1280160"/>
          </a:xfrm>
          <a:prstGeom prst="roundRect">
            <a:avLst>
              <a:gd name="adj" fmla="val 11429"/>
            </a:avLst>
          </a:prstGeom>
          <a:solidFill>
            <a:srgbClr val="10AF13"/>
          </a:solidFill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634740"/>
            <a:ext cx="12801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94560" y="36987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Hilmi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194560" y="413766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· QA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6916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CONFIRM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47002" y="2231390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4" name="Text 12"/>
          <p:cNvSpPr/>
          <p:nvPr/>
        </p:nvSpPr>
        <p:spPr>
          <a:xfrm>
            <a:off x="6858000" y="2029968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Akses Notion + content taxonomy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47002" y="2798318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/>
        </p:nvSpPr>
        <p:spPr>
          <a:xfrm>
            <a:off x="6858000" y="2596896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provider config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47002" y="3365246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8" name="Text 16"/>
          <p:cNvSpPr/>
          <p:nvPr/>
        </p:nvSpPr>
        <p:spPr>
          <a:xfrm>
            <a:off x="6858000" y="3163824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 API · Supabase · hosting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47002" y="3932174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0" name="Text 18"/>
          <p:cNvSpPr/>
          <p:nvPr/>
        </p:nvSpPr>
        <p:spPr>
          <a:xfrm>
            <a:off x="6858000" y="3730752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UAT scenarios dari Customer Support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5212080"/>
            <a:ext cx="5212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EFFORT &amp; PLANNING</a:t>
            </a:r>
            <a:endParaRPr lang="en-US" sz="1100" dirty="0"/>
          </a:p>
        </p:txBody>
      </p:sp>
      <p:sp>
        <p:nvSpPr>
          <p:cNvPr id="102" name="Text 102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Estimasi 49 mandays</a:t>
            </a:r>
            <a:endParaRPr lang="en-US" sz="3600" dirty="0"/>
          </a:p>
        </p:txBody>
      </p:sp>
      <p:sp>
        <p:nvSpPr>
          <p:cNvPr id="103" name="Shape 103"/>
          <p:cNvSpPr/>
          <p:nvPr/>
        </p:nvSpPr>
        <p:spPr>
          <a:xfrm>
            <a:off x="548640" y="1737360"/>
            <a:ext cx="2612136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04" name="Text 104"/>
          <p:cNvSpPr/>
          <p:nvPr/>
        </p:nvSpPr>
        <p:spPr>
          <a:xfrm>
            <a:off x="822960" y="1996440"/>
            <a:ext cx="2063496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</a:t>
            </a:r>
            <a:endParaRPr lang="en-US" sz="1200" dirty="0"/>
          </a:p>
        </p:txBody>
      </p:sp>
      <p:sp>
        <p:nvSpPr>
          <p:cNvPr id="105" name="Text 105"/>
          <p:cNvSpPr/>
          <p:nvPr/>
        </p:nvSpPr>
        <p:spPr>
          <a:xfrm>
            <a:off x="822960" y="2377440"/>
            <a:ext cx="2063496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MD</a:t>
            </a:r>
            <a:endParaRPr lang="en-US" sz="3200" dirty="0"/>
          </a:p>
        </p:txBody>
      </p:sp>
      <p:sp>
        <p:nvSpPr>
          <p:cNvPr id="106" name="Text 106"/>
          <p:cNvSpPr/>
          <p:nvPr/>
        </p:nvSpPr>
        <p:spPr>
          <a:xfrm>
            <a:off x="822960" y="2926080"/>
            <a:ext cx="206349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12% dari total effort</a:t>
            </a:r>
            <a:endParaRPr lang="en-US" sz="1000" dirty="0"/>
          </a:p>
        </p:txBody>
      </p:sp>
      <p:sp>
        <p:nvSpPr>
          <p:cNvPr id="107" name="Shape 107"/>
          <p:cNvSpPr/>
          <p:nvPr/>
        </p:nvSpPr>
        <p:spPr>
          <a:xfrm>
            <a:off x="3313176" y="1737360"/>
            <a:ext cx="2612136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08" name="Text 108"/>
          <p:cNvSpPr/>
          <p:nvPr/>
        </p:nvSpPr>
        <p:spPr>
          <a:xfrm>
            <a:off x="3587496" y="1996440"/>
            <a:ext cx="2063496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(Next.js)</a:t>
            </a:r>
            <a:endParaRPr lang="en-US" sz="1200" dirty="0"/>
          </a:p>
        </p:txBody>
      </p:sp>
      <p:sp>
        <p:nvSpPr>
          <p:cNvPr id="109" name="Text 109"/>
          <p:cNvSpPr/>
          <p:nvPr/>
        </p:nvSpPr>
        <p:spPr>
          <a:xfrm>
            <a:off x="3587496" y="2377440"/>
            <a:ext cx="2063496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MD</a:t>
            </a:r>
            <a:endParaRPr lang="en-US" sz="3200" dirty="0"/>
          </a:p>
        </p:txBody>
      </p:sp>
      <p:sp>
        <p:nvSpPr>
          <p:cNvPr id="110" name="Text 110"/>
          <p:cNvSpPr/>
          <p:nvPr/>
        </p:nvSpPr>
        <p:spPr>
          <a:xfrm>
            <a:off x="3587496" y="2926080"/>
            <a:ext cx="206349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29% dari total effort</a:t>
            </a:r>
            <a:endParaRPr lang="en-US" sz="1000" dirty="0"/>
          </a:p>
        </p:txBody>
      </p:sp>
      <p:sp>
        <p:nvSpPr>
          <p:cNvPr id="111" name="Shape 111"/>
          <p:cNvSpPr/>
          <p:nvPr/>
        </p:nvSpPr>
        <p:spPr>
          <a:xfrm>
            <a:off x="6077712" y="1737360"/>
            <a:ext cx="2612136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12" name="Text 112"/>
          <p:cNvSpPr/>
          <p:nvPr/>
        </p:nvSpPr>
        <p:spPr>
          <a:xfrm>
            <a:off x="6352032" y="1996440"/>
            <a:ext cx="2063496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3" name="Text 113"/>
          <p:cNvSpPr/>
          <p:nvPr/>
        </p:nvSpPr>
        <p:spPr>
          <a:xfrm>
            <a:off x="6352032" y="2377440"/>
            <a:ext cx="2063496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MD</a:t>
            </a:r>
            <a:endParaRPr lang="en-US" sz="3200" dirty="0"/>
          </a:p>
        </p:txBody>
      </p:sp>
      <p:sp>
        <p:nvSpPr>
          <p:cNvPr id="114" name="Text 114"/>
          <p:cNvSpPr/>
          <p:nvPr/>
        </p:nvSpPr>
        <p:spPr>
          <a:xfrm>
            <a:off x="6352032" y="2926080"/>
            <a:ext cx="206349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39% dari total effort</a:t>
            </a:r>
            <a:endParaRPr lang="en-US" sz="1000" dirty="0"/>
          </a:p>
        </p:txBody>
      </p:sp>
      <p:sp>
        <p:nvSpPr>
          <p:cNvPr id="115" name="Shape 115"/>
          <p:cNvSpPr/>
          <p:nvPr/>
        </p:nvSpPr>
        <p:spPr>
          <a:xfrm>
            <a:off x="8842248" y="1737360"/>
            <a:ext cx="2612136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16" name="Text 116"/>
          <p:cNvSpPr/>
          <p:nvPr/>
        </p:nvSpPr>
        <p:spPr>
          <a:xfrm>
            <a:off x="9116568" y="1996440"/>
            <a:ext cx="2063496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QA</a:t>
            </a:r>
            <a:endParaRPr lang="en-US" sz="1200" dirty="0"/>
          </a:p>
        </p:txBody>
      </p:sp>
      <p:sp>
        <p:nvSpPr>
          <p:cNvPr id="117" name="Text 117"/>
          <p:cNvSpPr/>
          <p:nvPr/>
        </p:nvSpPr>
        <p:spPr>
          <a:xfrm>
            <a:off x="9116568" y="2377440"/>
            <a:ext cx="2063496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MD</a:t>
            </a:r>
            <a:endParaRPr lang="en-US" sz="3200" dirty="0"/>
          </a:p>
        </p:txBody>
      </p:sp>
      <p:sp>
        <p:nvSpPr>
          <p:cNvPr id="118" name="Text 118"/>
          <p:cNvSpPr/>
          <p:nvPr/>
        </p:nvSpPr>
        <p:spPr>
          <a:xfrm>
            <a:off x="9116568" y="2926080"/>
            <a:ext cx="206349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 dari total effort</a:t>
            </a:r>
            <a:endParaRPr lang="en-US" sz="1000" dirty="0"/>
          </a:p>
        </p:txBody>
      </p:sp>
      <p:sp>
        <p:nvSpPr>
          <p:cNvPr id="119" name="Shape 119"/>
          <p:cNvSpPr/>
          <p:nvPr/>
        </p:nvSpPr>
        <p:spPr>
          <a:xfrm>
            <a:off x="54864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20" name="Text 120"/>
          <p:cNvSpPr/>
          <p:nvPr/>
        </p:nvSpPr>
        <p:spPr>
          <a:xfrm>
            <a:off x="777240" y="4081272"/>
            <a:ext cx="49834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planning range</a:t>
            </a:r>
            <a:endParaRPr lang="en-US" sz="1500" dirty="0"/>
          </a:p>
        </p:txBody>
      </p:sp>
      <p:sp>
        <p:nvSpPr>
          <p:cNvPr id="121" name="Text 121"/>
          <p:cNvSpPr/>
          <p:nvPr/>
        </p:nvSpPr>
        <p:spPr>
          <a:xfrm>
            <a:off x="777240" y="4462272"/>
            <a:ext cx="498348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54–57 MD</a:t>
            </a:r>
            <a:endParaRPr lang="en-US" sz="3200" dirty="0"/>
          </a:p>
        </p:txBody>
      </p:sp>
      <p:sp>
        <p:nvSpPr>
          <p:cNvPr id="122" name="Text 122"/>
          <p:cNvSpPr/>
          <p:nvPr/>
        </p:nvSpPr>
        <p:spPr>
          <a:xfrm>
            <a:off x="777240" y="5010912"/>
            <a:ext cx="4983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49 MD + contingency 10–15%.</a:t>
            </a:r>
            <a:endParaRPr lang="en-US" sz="1000" dirty="0"/>
          </a:p>
        </p:txBody>
      </p:sp>
      <p:sp>
        <p:nvSpPr>
          <p:cNvPr id="123" name="Shape 123"/>
          <p:cNvSpPr/>
          <p:nvPr/>
        </p:nvSpPr>
        <p:spPr>
          <a:xfrm>
            <a:off x="612648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24" name="Text 124"/>
          <p:cNvSpPr/>
          <p:nvPr/>
        </p:nvSpPr>
        <p:spPr>
          <a:xfrm>
            <a:off x="6355080" y="4081272"/>
            <a:ext cx="49834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path</a:t>
            </a:r>
            <a:endParaRPr lang="en-US" sz="1500" dirty="0"/>
          </a:p>
        </p:txBody>
      </p:sp>
      <p:sp>
        <p:nvSpPr>
          <p:cNvPr id="125" name="Text 125"/>
          <p:cNvSpPr/>
          <p:nvPr/>
        </p:nvSpPr>
        <p:spPr>
          <a:xfrm>
            <a:off x="6355080" y="4462272"/>
            <a:ext cx="498348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19 MD</a:t>
            </a:r>
            <a:endParaRPr lang="en-US" sz="3200" dirty="0"/>
          </a:p>
        </p:txBody>
      </p:sp>
      <p:sp>
        <p:nvSpPr>
          <p:cNvPr id="126" name="Text 126"/>
          <p:cNvSpPr/>
          <p:nvPr/>
        </p:nvSpPr>
        <p:spPr>
          <a:xfrm>
            <a:off x="6355080" y="5010912"/>
            <a:ext cx="4983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Butuh tim paralel; 1 fullstack sekuensial tidak cukup 1 bulan.</a:t>
            </a:r>
            <a:endParaRPr lang="en-US" sz="1000" dirty="0"/>
          </a:p>
        </p:txBody>
      </p:sp>
      <p:sp>
        <p:nvSpPr>
          <p:cNvPr id="127" name="Shape 127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128" name="Text 128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129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RISKS</a:t>
            </a:r>
            <a:endParaRPr lang="en-US" sz="1100" dirty="0"/>
          </a:p>
        </p:txBody>
      </p:sp>
      <p:sp>
        <p:nvSpPr>
          <p:cNvPr id="130" name="Text 130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Yang kami jaga sejak awal</a:t>
            </a:r>
            <a:endParaRPr lang="en-US" sz="3600" dirty="0"/>
          </a:p>
        </p:txBody>
      </p:sp>
      <p:sp>
        <p:nvSpPr>
          <p:cNvPr id="131" name="Shape 131"/>
          <p:cNvSpPr/>
          <p:nvPr/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32" name="Shape 132"/>
          <p:cNvSpPr/>
          <p:nvPr/>
        </p:nvSpPr>
        <p:spPr>
          <a:xfrm>
            <a:off x="77724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33" name="Text 133"/>
          <p:cNvSpPr/>
          <p:nvPr/>
        </p:nvSpPr>
        <p:spPr>
          <a:xfrm>
            <a:off x="77724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134" name="Text 134"/>
          <p:cNvSpPr/>
          <p:nvPr/>
        </p:nvSpPr>
        <p:spPr>
          <a:xfrm>
            <a:off x="146304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Dokumentasi Notion belum rapi</a:t>
            </a:r>
            <a:endParaRPr lang="en-US" sz="1500" dirty="0"/>
          </a:p>
        </p:txBody>
      </p:sp>
      <p:sp>
        <p:nvSpPr>
          <p:cNvPr id="135" name="Text 135"/>
          <p:cNvSpPr/>
          <p:nvPr/>
        </p:nvSpPr>
        <p:spPr>
          <a:xfrm>
            <a:off x="146304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Mitigasi: audit dan rapikan knowledge sebelum UAT.</a:t>
            </a:r>
            <a:endParaRPr lang="en-US" sz="1100" dirty="0"/>
          </a:p>
        </p:txBody>
      </p:sp>
      <p:sp>
        <p:nvSpPr>
          <p:cNvPr id="136" name="Shape 136"/>
          <p:cNvSpPr/>
          <p:nvPr/>
        </p:nvSpPr>
        <p:spPr>
          <a:xfrm>
            <a:off x="612648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37" name="Shape 137"/>
          <p:cNvSpPr/>
          <p:nvPr/>
        </p:nvSpPr>
        <p:spPr>
          <a:xfrm>
            <a:off x="635508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38" name="Text 138"/>
          <p:cNvSpPr/>
          <p:nvPr/>
        </p:nvSpPr>
        <p:spPr>
          <a:xfrm>
            <a:off x="635508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39" name="Text 139"/>
          <p:cNvSpPr/>
          <p:nvPr/>
        </p:nvSpPr>
        <p:spPr>
          <a:xfrm>
            <a:off x="704088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Struktur Notion tidak konsisten</a:t>
            </a:r>
            <a:endParaRPr lang="en-US" sz="1500" dirty="0"/>
          </a:p>
        </p:txBody>
      </p:sp>
      <p:sp>
        <p:nvSpPr>
          <p:cNvPr id="140" name="Text 140"/>
          <p:cNvSpPr/>
          <p:nvPr/>
        </p:nvSpPr>
        <p:spPr>
          <a:xfrm>
            <a:off x="704088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Mitigasi: tetapkan mapping kategori dan format data.</a:t>
            </a:r>
            <a:endParaRPr lang="en-US" sz="1100" dirty="0"/>
          </a:p>
        </p:txBody>
      </p:sp>
      <p:sp>
        <p:nvSpPr>
          <p:cNvPr id="141" name="Shape 141"/>
          <p:cNvSpPr/>
          <p:nvPr/>
        </p:nvSpPr>
        <p:spPr>
          <a:xfrm>
            <a:off x="54864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42" name="Shape 142"/>
          <p:cNvSpPr/>
          <p:nvPr/>
        </p:nvSpPr>
        <p:spPr>
          <a:xfrm>
            <a:off x="77724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43" name="Text 143"/>
          <p:cNvSpPr/>
          <p:nvPr/>
        </p:nvSpPr>
        <p:spPr>
          <a:xfrm>
            <a:off x="77724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44" name="Text 144"/>
          <p:cNvSpPr/>
          <p:nvPr/>
        </p:nvSpPr>
        <p:spPr>
          <a:xfrm>
            <a:off x="146304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melebar</a:t>
            </a:r>
            <a:endParaRPr lang="en-US" sz="1500" dirty="0"/>
          </a:p>
        </p:txBody>
      </p:sp>
      <p:sp>
        <p:nvSpPr>
          <p:cNvPr id="145" name="Text 145"/>
          <p:cNvSpPr/>
          <p:nvPr/>
        </p:nvSpPr>
        <p:spPr>
          <a:xfrm>
            <a:off x="146304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Mitigasi: out-of-scope list jadi batas delivery.</a:t>
            </a:r>
            <a:endParaRPr lang="en-US" sz="1100" dirty="0"/>
          </a:p>
        </p:txBody>
      </p:sp>
      <p:sp>
        <p:nvSpPr>
          <p:cNvPr id="146" name="Shape 146"/>
          <p:cNvSpPr/>
          <p:nvPr/>
        </p:nvSpPr>
        <p:spPr>
          <a:xfrm>
            <a:off x="612648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47" name="Shape 147"/>
          <p:cNvSpPr/>
          <p:nvPr/>
        </p:nvSpPr>
        <p:spPr>
          <a:xfrm>
            <a:off x="635508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48" name="Text 148"/>
          <p:cNvSpPr/>
          <p:nvPr/>
        </p:nvSpPr>
        <p:spPr>
          <a:xfrm>
            <a:off x="635508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149" name="Text 149"/>
          <p:cNvSpPr/>
          <p:nvPr/>
        </p:nvSpPr>
        <p:spPr>
          <a:xfrm>
            <a:off x="704088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provider belum ditentukan</a:t>
            </a:r>
            <a:endParaRPr lang="en-US" sz="1500" dirty="0"/>
          </a:p>
        </p:txBody>
      </p:sp>
      <p:sp>
        <p:nvSpPr>
          <p:cNvPr id="150" name="Text 150"/>
          <p:cNvSpPr/>
          <p:nvPr/>
        </p:nvSpPr>
        <p:spPr>
          <a:xfrm>
            <a:off x="704088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Mitigasi: konfirmasi config NextAuth sebelum sprint mulai.</a:t>
            </a:r>
            <a:endParaRPr lang="en-US" sz="1100" dirty="0"/>
          </a:p>
        </p:txBody>
      </p:sp>
      <p:sp>
        <p:nvSpPr>
          <p:cNvPr id="151" name="Shape 15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152" name="Text 152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153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BOUNDARY</a:t>
            </a:r>
            <a:endParaRPr lang="en-US" sz="1100" dirty="0"/>
          </a:p>
        </p:txBody>
      </p:sp>
      <p:sp>
        <p:nvSpPr>
          <p:cNvPr id="154" name="Text 154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Yang tidak masuk MVP</a:t>
            </a:r>
            <a:endParaRPr lang="en-US" sz="3600" dirty="0"/>
          </a:p>
        </p:txBody>
      </p:sp>
      <p:sp>
        <p:nvSpPr>
          <p:cNvPr id="155" name="Shape 155"/>
          <p:cNvSpPr/>
          <p:nvPr/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56" name="Shape 156"/>
          <p:cNvSpPr/>
          <p:nvPr/>
        </p:nvSpPr>
        <p:spPr>
          <a:xfrm>
            <a:off x="77724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57" name="Text 157"/>
          <p:cNvSpPr/>
          <p:nvPr/>
        </p:nvSpPr>
        <p:spPr>
          <a:xfrm>
            <a:off x="77724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158" name="Text 158"/>
          <p:cNvSpPr/>
          <p:nvPr/>
        </p:nvSpPr>
        <p:spPr>
          <a:xfrm>
            <a:off x="146304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Tidak ada auto-reply ke client</a:t>
            </a:r>
            <a:endParaRPr lang="en-US" sz="1500" dirty="0"/>
          </a:p>
        </p:txBody>
      </p:sp>
      <p:sp>
        <p:nvSpPr>
          <p:cNvPr id="159" name="Text 159"/>
          <p:cNvSpPr/>
          <p:nvPr/>
        </p:nvSpPr>
        <p:spPr>
          <a:xfrm>
            <a:off x="146304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Semua draft wajib direview manusia sebelum dipakai.</a:t>
            </a:r>
            <a:endParaRPr lang="en-US" sz="1100" dirty="0"/>
          </a:p>
        </p:txBody>
      </p:sp>
      <p:sp>
        <p:nvSpPr>
          <p:cNvPr id="160" name="Shape 160"/>
          <p:cNvSpPr/>
          <p:nvPr/>
        </p:nvSpPr>
        <p:spPr>
          <a:xfrm>
            <a:off x="612648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61" name="Shape 161"/>
          <p:cNvSpPr/>
          <p:nvPr/>
        </p:nvSpPr>
        <p:spPr>
          <a:xfrm>
            <a:off x="635508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2" name="Text 162"/>
          <p:cNvSpPr/>
          <p:nvPr/>
        </p:nvSpPr>
        <p:spPr>
          <a:xfrm>
            <a:off x="635508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63" name="Text 163"/>
          <p:cNvSpPr/>
          <p:nvPr/>
        </p:nvSpPr>
        <p:spPr>
          <a:xfrm>
            <a:off x="704088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Bukan pengganti Notion</a:t>
            </a:r>
            <a:endParaRPr lang="en-US" sz="1500" dirty="0"/>
          </a:p>
        </p:txBody>
      </p:sp>
      <p:sp>
        <p:nvSpPr>
          <p:cNvPr id="164" name="Text 164"/>
          <p:cNvSpPr/>
          <p:nvPr/>
        </p:nvSpPr>
        <p:spPr>
          <a:xfrm>
            <a:off x="704088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Notion tetap pusat dokumentasi; edit tetap di Notion.</a:t>
            </a:r>
            <a:endParaRPr lang="en-US" sz="1100" dirty="0"/>
          </a:p>
        </p:txBody>
      </p:sp>
      <p:sp>
        <p:nvSpPr>
          <p:cNvPr id="165" name="Shape 165"/>
          <p:cNvSpPr/>
          <p:nvPr/>
        </p:nvSpPr>
        <p:spPr>
          <a:xfrm>
            <a:off x="54864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66" name="Shape 166"/>
          <p:cNvSpPr/>
          <p:nvPr/>
        </p:nvSpPr>
        <p:spPr>
          <a:xfrm>
            <a:off x="77724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7" name="Text 167"/>
          <p:cNvSpPr/>
          <p:nvPr/>
        </p:nvSpPr>
        <p:spPr>
          <a:xfrm>
            <a:off x="77724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68" name="Text 168"/>
          <p:cNvSpPr/>
          <p:nvPr/>
        </p:nvSpPr>
        <p:spPr>
          <a:xfrm>
            <a:off x="146304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Tanpa edit dokumen dari CSCoPilot</a:t>
            </a:r>
            <a:endParaRPr lang="en-US" sz="1500" dirty="0"/>
          </a:p>
        </p:txBody>
      </p:sp>
      <p:sp>
        <p:nvSpPr>
          <p:cNvPr id="169" name="Text 169"/>
          <p:cNvSpPr/>
          <p:nvPr/>
        </p:nvSpPr>
        <p:spPr>
          <a:xfrm>
            <a:off x="146304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Aplikasi membaca knowledge, tidak menulis balik.</a:t>
            </a:r>
            <a:endParaRPr lang="en-US" sz="1100" dirty="0"/>
          </a:p>
        </p:txBody>
      </p:sp>
      <p:sp>
        <p:nvSpPr>
          <p:cNvPr id="170" name="Shape 170"/>
          <p:cNvSpPr/>
          <p:nvPr/>
        </p:nvSpPr>
        <p:spPr>
          <a:xfrm>
            <a:off x="612648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71" name="Shape 171"/>
          <p:cNvSpPr/>
          <p:nvPr/>
        </p:nvSpPr>
        <p:spPr>
          <a:xfrm>
            <a:off x="635508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72" name="Text 172"/>
          <p:cNvSpPr/>
          <p:nvPr/>
        </p:nvSpPr>
        <p:spPr>
          <a:xfrm>
            <a:off x="635508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173" name="Text 173"/>
          <p:cNvSpPr/>
          <p:nvPr/>
        </p:nvSpPr>
        <p:spPr>
          <a:xfrm>
            <a:off x="704088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Belum ada halaman admin</a:t>
            </a:r>
            <a:endParaRPr lang="en-US" sz="1500" dirty="0"/>
          </a:p>
        </p:txBody>
      </p:sp>
      <p:sp>
        <p:nvSpPr>
          <p:cNvPr id="174" name="Text 174"/>
          <p:cNvSpPr/>
          <p:nvPr/>
        </p:nvSpPr>
        <p:spPr>
          <a:xfrm>
            <a:off x="704088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Proses internal dulu; admin UI menyusul setelah MVP.</a:t>
            </a:r>
            <a:endParaRPr lang="en-US" sz="1100" dirty="0"/>
          </a:p>
        </p:txBody>
      </p:sp>
      <p:sp>
        <p:nvSpPr>
          <p:cNvPr id="175" name="Shape 17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176" name="Text 176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2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3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4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5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6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7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8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9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0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1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2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3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4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5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6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7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8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9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20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21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22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3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4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5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6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7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8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9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0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1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2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3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4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5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6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7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8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9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0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1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2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3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4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5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6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7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48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49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0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1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2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3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4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5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6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7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8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9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0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1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2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3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4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5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6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2663</Words>
  <Application>WPS Presentation</Application>
  <PresentationFormat>On-screen Show (16:9)</PresentationFormat>
  <Paragraphs>246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CSCoPilot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CSCoPilot — Client Kickoff / Kickoff Klien</dc:title>
  <dc:creator>CSCoPilot</dc:creator>
  <dc:subject>PptxGenJS Presentation</dc:subject>
  <cp:lastModifiedBy>TDI021</cp:lastModifiedBy>
  <cp:revision>2</cp:revision>
  <dcterms:created xsi:type="dcterms:W3CDTF">2026-08-12T08:27:00Z</dcterms:created>
  <dcterms:modified xsi:type="dcterms:W3CDTF">2026-08-12T08:51:48Z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6067D4BEC8674FF696EE334E90859D4E_12</vt:lpwstr>
  </property>
  <property fmtid="{D5CDD505-2E9C-101B-9397-08002B2CF9AE}" pid="3" name="KSOProductBuildVer">
    <vt:lpwstr>2057-12.2.0.23206</vt:lpwstr>
  </property>
</Properties>
</file>